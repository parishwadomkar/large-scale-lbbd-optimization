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482" r:id="rId3"/>
    <p:sldId id="257" r:id="rId4"/>
    <p:sldId id="258" r:id="rId5"/>
    <p:sldId id="468" r:id="rId6"/>
    <p:sldId id="262" r:id="rId7"/>
    <p:sldId id="263" r:id="rId8"/>
    <p:sldId id="264" r:id="rId9"/>
    <p:sldId id="265" r:id="rId10"/>
    <p:sldId id="266" r:id="rId11"/>
    <p:sldId id="268" r:id="rId12"/>
    <p:sldId id="267" r:id="rId13"/>
    <p:sldId id="469" r:id="rId14"/>
    <p:sldId id="484" r:id="rId15"/>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B7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1F400-86C7-4BCA-BB06-7C154A8812B6}" v="31" dt="2026-06-10T08:43:16.5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2097BF-2C52-46BF-8691-C476A3573E8C}" type="datetimeFigureOut">
              <a:rPr lang="sv-SE" smtClean="0"/>
              <a:t>2026-06-23</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BBF79-7776-4A39-AA5D-223A80E554DD}" type="slidenum">
              <a:rPr lang="sv-SE" smtClean="0"/>
              <a:t>‹#›</a:t>
            </a:fld>
            <a:endParaRPr lang="sv-SE"/>
          </a:p>
        </p:txBody>
      </p:sp>
    </p:spTree>
    <p:extLst>
      <p:ext uri="{BB962C8B-B14F-4D97-AF65-F5344CB8AC3E}">
        <p14:creationId xmlns:p14="http://schemas.microsoft.com/office/powerpoint/2010/main" val="2113207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clarify the long title, we have the conceptualization here.</a:t>
            </a:r>
          </a:p>
          <a:p>
            <a:endParaRPr lang="en-US" dirty="0"/>
          </a:p>
          <a:p>
            <a:r>
              <a:rPr lang="en-US" dirty="0"/>
              <a:t>We have the charging demands from the first research- aggregated spatially and temporally.</a:t>
            </a:r>
          </a:p>
          <a:p>
            <a:endParaRPr lang="en-US" dirty="0"/>
          </a:p>
          <a:p>
            <a:r>
              <a:rPr lang="en-US" dirty="0"/>
              <a:t>And our goal is to have a join optimization model to deploy the charging and renewable energy infrastructure.</a:t>
            </a:r>
          </a:p>
          <a:p>
            <a:endParaRPr lang="en-US" dirty="0"/>
          </a:p>
          <a:p>
            <a:r>
              <a:rPr lang="en-US" sz="1200" kern="1200" dirty="0">
                <a:solidFill>
                  <a:schemeClr val="tx1"/>
                </a:solidFill>
                <a:effectLst/>
                <a:latin typeface="+mn-lt"/>
                <a:ea typeface="+mn-ea"/>
                <a:cs typeface="+mn-cs"/>
              </a:rPr>
              <a:t>Constraints and parameters, and we aim to perform this joint optimization from the perspective of the CPO, assuming that the CPO deploys the infrastructure or invests for the expenditures, as he earns the revenue from EV users from charging.</a:t>
            </a:r>
          </a:p>
          <a:p>
            <a:endParaRPr lang="en-SE"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the baseline is that we satisfy the charging demands, but in a cost optimal way- while maximizing the net profit for the CPO.</a:t>
            </a:r>
            <a:endParaRPr lang="en-SE" dirty="0"/>
          </a:p>
        </p:txBody>
      </p:sp>
      <p:sp>
        <p:nvSpPr>
          <p:cNvPr id="4" name="Slide Number Placeholder 3"/>
          <p:cNvSpPr>
            <a:spLocks noGrp="1"/>
          </p:cNvSpPr>
          <p:nvPr>
            <p:ph type="sldNum" sz="quarter" idx="5"/>
          </p:nvPr>
        </p:nvSpPr>
        <p:spPr/>
        <p:txBody>
          <a:bodyPr/>
          <a:lstStyle/>
          <a:p>
            <a:fld id="{6FACBA83-E2FD-40FA-A0BA-659684D791A8}" type="slidenum">
              <a:rPr lang="en-US" smtClean="0"/>
              <a:t>2</a:t>
            </a:fld>
            <a:endParaRPr lang="en-US"/>
          </a:p>
        </p:txBody>
      </p:sp>
    </p:spTree>
    <p:extLst>
      <p:ext uri="{BB962C8B-B14F-4D97-AF65-F5344CB8AC3E}">
        <p14:creationId xmlns:p14="http://schemas.microsoft.com/office/powerpoint/2010/main" val="122400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1D5E5-7285-E96F-F393-10A598D62F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436DBF1A-02FF-AC01-DBE1-592C6D3C95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2C7A4FE5-EF7A-21CD-F003-275709145B65}"/>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A23B7171-65B6-D58C-724B-F9FF6A1CF226}"/>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F5A511AF-A3F2-E48F-C0A6-EA1A7A162125}"/>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1676000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5BC84-23A9-916D-EA5C-7EEB6785304F}"/>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91CFA5B6-8118-EAF4-F0F5-85775F3F78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EBAAFD6E-1C0F-1689-26BF-3A0537A354AD}"/>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7DE510F1-CED2-CC57-033A-B1E7E9013D4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B248F471-B807-41F7-0984-6B4041BC8634}"/>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1592392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45E72-6219-187A-F481-F795DACA5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77C93454-7FC0-9007-AC86-3EECE20532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75DEB-9B45-19FA-4030-0D34C735990A}"/>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301DE324-1846-D9BD-23BC-4AEDFD2CB22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0C6F6947-E91D-8B0D-5408-A0CBDC36C080}"/>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3028047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691B-048E-B524-FAC2-24AD31FAAF34}"/>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FBCB52DB-8330-1148-0DB6-9E17BDE895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F6AE640A-A7ED-4143-52CC-30430F470A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23E310FE-5B38-5177-99BD-32690FA99909}"/>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6" name="Footer Placeholder 5">
            <a:extLst>
              <a:ext uri="{FF2B5EF4-FFF2-40B4-BE49-F238E27FC236}">
                <a16:creationId xmlns:a16="http://schemas.microsoft.com/office/drawing/2014/main" id="{91F42ACE-283D-DDB7-9D75-B87E99B29B42}"/>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CFA3F47F-C849-375C-1D7B-224F0CE76BBA}"/>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105275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7FB09-8984-7A23-23B8-702824EE173D}"/>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90BAF6F6-E2D5-D128-FC63-A24D3621C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F81907-614A-F204-1653-B90BE28B09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CE25CDA6-5096-330A-E2A9-94EE47CAD6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22140-26C7-9077-137F-AF9B049B21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573F5649-92BB-A249-7419-67659F6835B0}"/>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8" name="Footer Placeholder 7">
            <a:extLst>
              <a:ext uri="{FF2B5EF4-FFF2-40B4-BE49-F238E27FC236}">
                <a16:creationId xmlns:a16="http://schemas.microsoft.com/office/drawing/2014/main" id="{A030BFB5-AC6D-164B-4214-6CA931C5B451}"/>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A5D4BCE2-CCF6-F821-8991-6D91965DF16D}"/>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3891229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AF370-BA9E-29BB-4C1A-D522FD55148B}"/>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57537DD1-3798-DF12-B2C7-DAB90753663F}"/>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4" name="Footer Placeholder 3">
            <a:extLst>
              <a:ext uri="{FF2B5EF4-FFF2-40B4-BE49-F238E27FC236}">
                <a16:creationId xmlns:a16="http://schemas.microsoft.com/office/drawing/2014/main" id="{FFC83669-6C2E-7902-A060-CD756A335AAA}"/>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BB0A4127-E75D-F489-580D-A8B2E1D03B77}"/>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2429761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002566-4C7B-E1F9-D153-D274581A1116}"/>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3" name="Footer Placeholder 2">
            <a:extLst>
              <a:ext uri="{FF2B5EF4-FFF2-40B4-BE49-F238E27FC236}">
                <a16:creationId xmlns:a16="http://schemas.microsoft.com/office/drawing/2014/main" id="{D41E7A78-80D0-CC70-867E-C8A6DC18D333}"/>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18B57A56-7DA1-49F9-3F6F-3FADC09FF843}"/>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3412297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FD7DF-00C2-65A6-192A-93869D28AB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DAA29D81-37FE-254C-ABE8-C9022BC700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69751986-88FC-A366-C828-19A4CE976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8C6835-E5F5-5BFC-F9DC-19FBFA923402}"/>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6" name="Footer Placeholder 5">
            <a:extLst>
              <a:ext uri="{FF2B5EF4-FFF2-40B4-BE49-F238E27FC236}">
                <a16:creationId xmlns:a16="http://schemas.microsoft.com/office/drawing/2014/main" id="{CB57CB29-878B-05AB-DFE9-F5B5F3D6352E}"/>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DF572AD2-7FB5-C17C-1A1D-055B6749A8B3}"/>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3164540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EEBCD-63B4-6A5E-36E9-603CC549B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B706CB9A-062B-4CBA-3A27-EC13A221F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18FC76DE-845A-CCBA-0A6F-10483DB082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08CF5-B63E-378E-D026-27A57F66D1D8}"/>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6" name="Footer Placeholder 5">
            <a:extLst>
              <a:ext uri="{FF2B5EF4-FFF2-40B4-BE49-F238E27FC236}">
                <a16:creationId xmlns:a16="http://schemas.microsoft.com/office/drawing/2014/main" id="{0B9D4CB2-3566-7C7B-1D73-13D68F58373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ACDFA5EC-EB4F-0573-61E1-C1F269DD5F1D}"/>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4021925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00CC2-13FE-1B65-8FE7-340C7D7B2BF1}"/>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70675088-2973-DEF8-F68D-66AC81E60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FDFDCB76-173D-D7B1-B993-3B174186D5B1}"/>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C5D4B876-F713-1ABD-7BFF-6A1208C3EFEA}"/>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06716DCB-4DB6-4812-6BFF-80D304B5160A}"/>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29374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9717E2-DE17-99D8-64FF-70D747F828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1264F55F-B520-19FF-2D6F-BFA30428C1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1977B12-D254-F9EE-A611-F60A8D710E85}"/>
              </a:ext>
            </a:extLst>
          </p:cNvPr>
          <p:cNvSpPr>
            <a:spLocks noGrp="1"/>
          </p:cNvSpPr>
          <p:nvPr>
            <p:ph type="dt" sz="half" idx="10"/>
          </p:nvPr>
        </p:nvSpPr>
        <p:spPr/>
        <p:txBody>
          <a:body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BB2B0087-FA98-981A-707D-BE663A69A6BB}"/>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96CB5866-D881-4AE3-DF41-8ABA41C266D4}"/>
              </a:ext>
            </a:extLst>
          </p:cNvPr>
          <p:cNvSpPr>
            <a:spLocks noGrp="1"/>
          </p:cNvSpPr>
          <p:nvPr>
            <p:ph type="sldNum" sz="quarter" idx="12"/>
          </p:nvPr>
        </p:nvSpPr>
        <p:spPr/>
        <p:txBody>
          <a:bodyPr/>
          <a:lstStyle/>
          <a:p>
            <a:fld id="{0CA5BF18-AAE8-4B74-B9BB-ECFBD2F2529E}" type="slidenum">
              <a:rPr lang="en-SE" smtClean="0"/>
              <a:t>‹#›</a:t>
            </a:fld>
            <a:endParaRPr lang="en-SE"/>
          </a:p>
        </p:txBody>
      </p:sp>
    </p:spTree>
    <p:extLst>
      <p:ext uri="{BB962C8B-B14F-4D97-AF65-F5344CB8AC3E}">
        <p14:creationId xmlns:p14="http://schemas.microsoft.com/office/powerpoint/2010/main" val="3426480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reamble, list one column">
    <p:spTree>
      <p:nvGrpSpPr>
        <p:cNvPr id="1" name=""/>
        <p:cNvGrpSpPr/>
        <p:nvPr/>
      </p:nvGrpSpPr>
      <p:grpSpPr>
        <a:xfrm>
          <a:off x="0" y="0"/>
          <a:ext cx="0" cy="0"/>
          <a:chOff x="0" y="0"/>
          <a:chExt cx="0" cy="0"/>
        </a:xfrm>
      </p:grpSpPr>
      <p:sp>
        <p:nvSpPr>
          <p:cNvPr id="5" name="Rectangle 5"/>
          <p:cNvSpPr>
            <a:spLocks noChangeArrowheads="1"/>
          </p:cNvSpPr>
          <p:nvPr userDrawn="1"/>
        </p:nvSpPr>
        <p:spPr bwMode="auto">
          <a:xfrm>
            <a:off x="0" y="6573700"/>
            <a:ext cx="12192000" cy="284301"/>
          </a:xfrm>
          <a:prstGeom prst="rect">
            <a:avLst/>
          </a:pr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hangingPunct="0"/>
            <a:endParaRPr lang="en-US" sz="2400">
              <a:solidFill>
                <a:sysClr val="windowText" lastClr="000000"/>
              </a:solidFill>
            </a:endParaRPr>
          </a:p>
        </p:txBody>
      </p:sp>
      <p:sp>
        <p:nvSpPr>
          <p:cNvPr id="7" name="Date Placeholder 3"/>
          <p:cNvSpPr>
            <a:spLocks noGrp="1"/>
          </p:cNvSpPr>
          <p:nvPr>
            <p:ph type="dt" sz="half" idx="10"/>
          </p:nvPr>
        </p:nvSpPr>
        <p:spPr>
          <a:xfrm>
            <a:off x="625187" y="6580834"/>
            <a:ext cx="2844800" cy="277167"/>
          </a:xfrm>
          <a:prstGeom prst="rect">
            <a:avLst/>
          </a:prstGeom>
        </p:spPr>
        <p:txBody>
          <a:bodyPr/>
          <a:lstStyle>
            <a:lvl1pPr>
              <a:defRPr sz="800" baseline="0">
                <a:solidFill>
                  <a:schemeClr val="bg1"/>
                </a:solidFill>
              </a:defRPr>
            </a:lvl1pPr>
          </a:lstStyle>
          <a:p>
            <a:fld id="{EA62EDE9-BA80-7E48-A3D1-784549844A76}" type="datetime1">
              <a:rPr lang="sv-SE" smtClean="0"/>
              <a:t>2026-06-23</a:t>
            </a:fld>
            <a:endParaRPr lang="sv-SE"/>
          </a:p>
        </p:txBody>
      </p:sp>
      <p:sp>
        <p:nvSpPr>
          <p:cNvPr id="8" name="Footer Placeholder 4"/>
          <p:cNvSpPr>
            <a:spLocks noGrp="1"/>
          </p:cNvSpPr>
          <p:nvPr>
            <p:ph type="ftr" sz="quarter" idx="11"/>
          </p:nvPr>
        </p:nvSpPr>
        <p:spPr>
          <a:xfrm>
            <a:off x="4165600" y="6580834"/>
            <a:ext cx="3860800" cy="277167"/>
          </a:xfrm>
          <a:prstGeom prst="rect">
            <a:avLst/>
          </a:prstGeom>
        </p:spPr>
        <p:txBody>
          <a:bodyPr/>
          <a:lstStyle>
            <a:lvl1pPr algn="ctr">
              <a:defRPr sz="800" baseline="0">
                <a:solidFill>
                  <a:srgbClr val="FFFFFF"/>
                </a:solidFill>
              </a:defRPr>
            </a:lvl1pPr>
          </a:lstStyle>
          <a:p>
            <a:r>
              <a:rPr lang="en-GB" noProof="0"/>
              <a:t>Chalmers University of Technology</a:t>
            </a:r>
          </a:p>
        </p:txBody>
      </p:sp>
      <p:sp>
        <p:nvSpPr>
          <p:cNvPr id="9" name="Slide Number Placeholder 5"/>
          <p:cNvSpPr>
            <a:spLocks noGrp="1"/>
          </p:cNvSpPr>
          <p:nvPr>
            <p:ph type="sldNum" sz="quarter" idx="12"/>
          </p:nvPr>
        </p:nvSpPr>
        <p:spPr>
          <a:xfrm>
            <a:off x="8737600" y="6580834"/>
            <a:ext cx="2844800" cy="277167"/>
          </a:xfrm>
          <a:prstGeom prst="rect">
            <a:avLst/>
          </a:prstGeom>
        </p:spPr>
        <p:txBody>
          <a:bodyPr/>
          <a:lstStyle>
            <a:lvl1pPr algn="r">
              <a:defRPr sz="800" baseline="0">
                <a:solidFill>
                  <a:schemeClr val="bg1"/>
                </a:solidFill>
              </a:defRPr>
            </a:lvl1pPr>
          </a:lstStyle>
          <a:p>
            <a:fld id="{344E8EA3-C3DD-5544-8A1C-EA00A1673D37}" type="slidenum">
              <a:rPr lang="sv-SE" smtClean="0"/>
              <a:pPr/>
              <a:t>‹#›</a:t>
            </a:fld>
            <a:endParaRPr lang="sv-SE"/>
          </a:p>
        </p:txBody>
      </p:sp>
      <p:sp>
        <p:nvSpPr>
          <p:cNvPr id="6" name="Title 1"/>
          <p:cNvSpPr>
            <a:spLocks noGrp="1"/>
          </p:cNvSpPr>
          <p:nvPr>
            <p:ph type="title" hasCustomPrompt="1"/>
          </p:nvPr>
        </p:nvSpPr>
        <p:spPr>
          <a:xfrm>
            <a:off x="625187" y="818671"/>
            <a:ext cx="10957213" cy="891183"/>
          </a:xfrm>
          <a:prstGeom prst="rect">
            <a:avLst/>
          </a:prstGeom>
        </p:spPr>
        <p:txBody>
          <a:bodyPr>
            <a:normAutofit/>
          </a:bodyPr>
          <a:lstStyle>
            <a:lvl1pPr>
              <a:lnSpc>
                <a:spcPts val="5200"/>
              </a:lnSpc>
              <a:defRPr sz="4800" b="1" kern="900" cap="all" spc="-200" baseline="0">
                <a:solidFill>
                  <a:schemeClr val="tx1"/>
                </a:solidFill>
              </a:defRPr>
            </a:lvl1pPr>
          </a:lstStyle>
          <a:p>
            <a:r>
              <a:rPr lang="en-GB" noProof="0"/>
              <a:t>Headline</a:t>
            </a:r>
            <a:endParaRPr lang="sv-SE" noProof="0"/>
          </a:p>
        </p:txBody>
      </p:sp>
      <p:sp>
        <p:nvSpPr>
          <p:cNvPr id="10" name="Content Placeholder 2"/>
          <p:cNvSpPr>
            <a:spLocks noGrp="1"/>
          </p:cNvSpPr>
          <p:nvPr>
            <p:ph idx="1" hasCustomPrompt="1"/>
          </p:nvPr>
        </p:nvSpPr>
        <p:spPr>
          <a:xfrm>
            <a:off x="625187" y="1709854"/>
            <a:ext cx="10957213" cy="4640321"/>
          </a:xfrm>
          <a:prstGeom prst="rect">
            <a:avLst/>
          </a:prstGeom>
        </p:spPr>
        <p:txBody>
          <a:bodyPr/>
          <a:lstStyle>
            <a:lvl1pPr marL="0" indent="0">
              <a:buNone/>
              <a:defRPr sz="3467" baseline="0">
                <a:solidFill>
                  <a:schemeClr val="tx1"/>
                </a:solidFill>
              </a:defRPr>
            </a:lvl1pPr>
            <a:lvl2pPr>
              <a:defRPr sz="2933" baseline="0">
                <a:solidFill>
                  <a:schemeClr val="tx1"/>
                </a:solidFill>
              </a:defRPr>
            </a:lvl2pPr>
            <a:lvl3pPr>
              <a:defRPr sz="2400" baseline="0">
                <a:solidFill>
                  <a:schemeClr val="tx1"/>
                </a:solidFill>
              </a:defRPr>
            </a:lvl3pPr>
            <a:lvl4pPr>
              <a:defRPr sz="2133" baseline="0">
                <a:solidFill>
                  <a:schemeClr val="tx1"/>
                </a:solidFill>
              </a:defRPr>
            </a:lvl4pPr>
            <a:lvl5pPr>
              <a:defRPr sz="1867" baseline="0">
                <a:solidFill>
                  <a:schemeClr val="tx1"/>
                </a:solidFill>
              </a:defRPr>
            </a:lvl5pPr>
            <a:lvl6pPr>
              <a:defRPr sz="1467" baseline="0"/>
            </a:lvl6pPr>
          </a:lstStyle>
          <a:p>
            <a:pPr lvl="0"/>
            <a:r>
              <a:rPr lang="en-GB" noProof="0"/>
              <a:t>Preamble one column</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sz="1333" baseline="0" noProof="0"/>
              <a:t>Sixth level</a:t>
            </a:r>
            <a:endParaRPr lang="en-GB" noProof="0"/>
          </a:p>
        </p:txBody>
      </p:sp>
    </p:spTree>
    <p:extLst>
      <p:ext uri="{BB962C8B-B14F-4D97-AF65-F5344CB8AC3E}">
        <p14:creationId xmlns:p14="http://schemas.microsoft.com/office/powerpoint/2010/main" val="19907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190BCB-71C9-C0AA-6330-D1023ABB12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E0C9D969-F57B-54B7-B22E-4A2BA9C664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068C3DE9-D1F3-AEC5-D6A1-9279A9C3C0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6DAFBB-7676-4803-B957-7D5BC898EC9E}" type="datetimeFigureOut">
              <a:rPr lang="en-SE" smtClean="0"/>
              <a:t>06/23/2026</a:t>
            </a:fld>
            <a:endParaRPr lang="en-SE"/>
          </a:p>
        </p:txBody>
      </p:sp>
      <p:sp>
        <p:nvSpPr>
          <p:cNvPr id="5" name="Footer Placeholder 4">
            <a:extLst>
              <a:ext uri="{FF2B5EF4-FFF2-40B4-BE49-F238E27FC236}">
                <a16:creationId xmlns:a16="http://schemas.microsoft.com/office/drawing/2014/main" id="{CDB2F9EE-F23E-47EA-8325-7C91E315B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A96D6D53-F9B5-9618-BB9C-6F498E876D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A5BF18-AAE8-4B74-B9BB-ECFBD2F2529E}" type="slidenum">
              <a:rPr lang="en-SE" smtClean="0"/>
              <a:t>‹#›</a:t>
            </a:fld>
            <a:endParaRPr lang="en-SE"/>
          </a:p>
        </p:txBody>
      </p:sp>
    </p:spTree>
    <p:extLst>
      <p:ext uri="{BB962C8B-B14F-4D97-AF65-F5344CB8AC3E}">
        <p14:creationId xmlns:p14="http://schemas.microsoft.com/office/powerpoint/2010/main" val="471892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2.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a-pvps.org/national_survey/nsr-sweden-2024/" TargetMode="External"/><Relationship Id="rId2" Type="http://schemas.openxmlformats.org/officeDocument/2006/relationships/hyperlink" Target="https://jinkosolar.eu/wp-content/uploads/2024/10/JKM475-500N-60HL4-V-F8-EU.pdf" TargetMode="External"/><Relationship Id="rId1" Type="http://schemas.openxmlformats.org/officeDocument/2006/relationships/slideLayout" Target="../slideLayouts/slideLayout2.xml"/><Relationship Id="rId5" Type="http://schemas.openxmlformats.org/officeDocument/2006/relationships/hyperlink" Target="https://www.solenerginyheter.se/20250407/3992/batterilagring-vaxer-snabbt-i-svenska-hushall?page=%2C1" TargetMode="External"/><Relationship Id="rId4" Type="http://schemas.openxmlformats.org/officeDocument/2006/relationships/hyperlink" Target="https://doi.org/10.1016/j.apenergy.2020.115786"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4.wdp"/><Relationship Id="rId7"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PNG"/><Relationship Id="rId9" Type="http://schemas.microsoft.com/office/2007/relationships/hdphoto" Target="../media/hdphoto6.wdp"/></Relationships>
</file>

<file path=ppt/slides/_rels/slide6.xml.rels><?xml version="1.0" encoding="UTF-8" standalone="yes"?>
<Relationships xmlns="http://schemas.openxmlformats.org/package/2006/relationships"><Relationship Id="rId8" Type="http://schemas.openxmlformats.org/officeDocument/2006/relationships/hyperlink" Target="https://rebaba.se/news/cost-of-battery-energy-storage-system-bess-2025" TargetMode="External"/><Relationship Id="rId3" Type="http://schemas.openxmlformats.org/officeDocument/2006/relationships/hyperlink" Target="https://documents1.worldbank.org/curated/en/099536501202316060/pdf/IDU0edcfc32c0825f040f509c0b0bbf49294e569.pdf" TargetMode="External"/><Relationship Id="rId7" Type="http://schemas.openxmlformats.org/officeDocument/2006/relationships/hyperlink" Target="https://www.energy-storage.news/behind-the-numbers-bnef-finds-40-year-on-year-drop-in-bess-costs/" TargetMode="External"/><Relationship Id="rId2" Type="http://schemas.openxmlformats.org/officeDocument/2006/relationships/hyperlink" Target="https://www.svk.se/4ab646/siteassets/5.jobba-har/dokument-exjobb/battery-energy-storage-systems.pdf" TargetMode="External"/><Relationship Id="rId1" Type="http://schemas.openxmlformats.org/officeDocument/2006/relationships/slideLayout" Target="../slideLayouts/slideLayout2.xml"/><Relationship Id="rId6" Type="http://schemas.openxmlformats.org/officeDocument/2006/relationships/hyperlink" Target="https://www.ingridcapacity.com/" TargetMode="External"/><Relationship Id="rId5" Type="http://schemas.openxmlformats.org/officeDocument/2006/relationships/hyperlink" Target="https://www.energy-storage.news/bw-ess-and-ingrid-capacity-secure-us65-million-green-loan-for-211mw-sweden-portfolio/" TargetMode="External"/><Relationship Id="rId4" Type="http://schemas.openxmlformats.org/officeDocument/2006/relationships/hyperlink" Target="https://iea-pvps.org/wp-content/uploads/2025/10/IEA-PVPS-Task-1-NSR-Sweden-2024.pdf.pdf"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powerland.co.uk/collections/commercial-battery-storage" TargetMode="External"/><Relationship Id="rId2" Type="http://schemas.openxmlformats.org/officeDocument/2006/relationships/hyperlink" Target="https://www.irena.org/-/media/Files/IRENA/Agency/Publication/2015/IRENA_Battery_Storage_case_studies_2015.pdf?hash=9F36F343000EAC1763B685F18B9CD61311463A6E&amp;la=e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mobilityportal.eu/promoting-charging-swedish-government/" TargetMode="External"/><Relationship Id="rId3" Type="http://schemas.openxmlformats.org/officeDocument/2006/relationships/hyperlink" Target="https://www.lansstyrelsen.se/download/18.8cd5a1b19362fb4fc22ed/1732533358585/Elfordon%20och%20laddinfrastruktur%20-%20en%20v%C3%A4gledning%20f%C3%B6r%20kommuner.pdf" TargetMode="External"/><Relationship Id="rId7" Type="http://schemas.openxmlformats.org/officeDocument/2006/relationships/hyperlink" Target="https://www.naturvardsverket.se/amnesomraden/klimatomstallningen/klimatklivet/publik-laddning/" TargetMode="External"/><Relationship Id="rId2" Type="http://schemas.openxmlformats.org/officeDocument/2006/relationships/hyperlink" Target="https://www.parkit.se/en/parkit-explains/how-much-does-it-cost-to-install-ev-chargers" TargetMode="External"/><Relationship Id="rId1" Type="http://schemas.openxmlformats.org/officeDocument/2006/relationships/slideLayout" Target="../slideLayouts/slideLayout2.xml"/><Relationship Id="rId6" Type="http://schemas.openxmlformats.org/officeDocument/2006/relationships/hyperlink" Target="https://www.naturvardsverket.se/bidrag/ladda-bilen/" TargetMode="External"/><Relationship Id="rId5" Type="http://schemas.openxmlformats.org/officeDocument/2006/relationships/hyperlink" Target="https://e2charge.se/pages/hur-fungerar-avdraget-for-gron-teknik" TargetMode="External"/><Relationship Id="rId10" Type="http://schemas.openxmlformats.org/officeDocument/2006/relationships/hyperlink" Target="https://www.acea.auto/files/Research-Whitepaper-A-European-EV-Charging-Infrastructure-Masterplan.pdf" TargetMode="External"/><Relationship Id="rId4" Type="http://schemas.openxmlformats.org/officeDocument/2006/relationships/hyperlink" Target="https://www.naturvardsverket.se/amnesomraden/klimatomstallningen/klimatklivet/laddinfrastruktur/laddstationer-oppna-for-allmanheten/" TargetMode="External"/><Relationship Id="rId9" Type="http://schemas.openxmlformats.org/officeDocument/2006/relationships/hyperlink" Target="https://www.evolutionroad.se/en/electric-roads/what-is-the-cost-of-electric-roads/"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wallboxdiscounter.com/en/ev-charger/ev-charger-22-kw/" TargetMode="External"/><Relationship Id="rId13" Type="http://schemas.openxmlformats.org/officeDocument/2006/relationships/image" Target="../media/image14.png"/><Relationship Id="rId3" Type="http://schemas.openxmlformats.org/officeDocument/2006/relationships/hyperlink" Target="https://www.wallboxdiscounter.com/en/ev-charger/ev-charger-74-kw/" TargetMode="External"/><Relationship Id="rId7" Type="http://schemas.openxmlformats.org/officeDocument/2006/relationships/hyperlink" Target="https://www.evify.eu/products/charge-amps-dawn/" TargetMode="External"/><Relationship Id="rId12" Type="http://schemas.openxmlformats.org/officeDocument/2006/relationships/hyperlink" Target="https://www.sciencedirect.com/science/article/pii/S2213624X23000238" TargetMode="External"/><Relationship Id="rId2" Type="http://schemas.openxmlformats.org/officeDocument/2006/relationships/hyperlink" Target="https://www.allego.eu/pricing/" TargetMode="External"/><Relationship Id="rId1" Type="http://schemas.openxmlformats.org/officeDocument/2006/relationships/slideLayout" Target="../slideLayouts/slideLayout2.xml"/><Relationship Id="rId6" Type="http://schemas.openxmlformats.org/officeDocument/2006/relationships/hyperlink" Target="https://www.elfa.se/en/cable-wire/ev-charging/c/cat-L3D_706185" TargetMode="External"/><Relationship Id="rId11" Type="http://schemas.openxmlformats.org/officeDocument/2006/relationships/hyperlink" Target="https://www.heliox-energy.com/products/rapid-50kw-public-charger" TargetMode="External"/><Relationship Id="rId5" Type="http://schemas.openxmlformats.org/officeDocument/2006/relationships/hyperlink" Target="https://www.wallboxdiscounter.com/en/ev-charger/ev-charger-11-kw/" TargetMode="External"/><Relationship Id="rId10" Type="http://schemas.openxmlformats.org/officeDocument/2006/relationships/hyperlink" Target="https://chargefinder.com/us/gothenburg/charging-station/x98njr" TargetMode="External"/><Relationship Id="rId4" Type="http://schemas.openxmlformats.org/officeDocument/2006/relationships/hyperlink" Target="https://evchargeplus.com/#shop" TargetMode="External"/><Relationship Id="rId9" Type="http://schemas.openxmlformats.org/officeDocument/2006/relationships/hyperlink" Target="https://chargemap.com/cities/goteborg-SE" TargetMode="External"/><Relationship Id="rId1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econstor.eu/bitstream/10419/82839/1/wp1998-015.pdf" TargetMode="External"/><Relationship Id="rId2" Type="http://schemas.openxmlformats.org/officeDocument/2006/relationships/hyperlink" Target="https://www.sciencedirect.com/science/article/pii/S0965856413002103"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www.trafikdage.dk/td/papers/papers95/metode/algers/algers.pdf" TargetMode="External"/><Relationship Id="rId4" Type="http://schemas.openxmlformats.org/officeDocument/2006/relationships/hyperlink" Target="https://www.jstor.org/stable/20053871"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DC167-5BC3-2A23-B5EE-A117180D1B3B}"/>
              </a:ext>
            </a:extLst>
          </p:cNvPr>
          <p:cNvSpPr>
            <a:spLocks noGrp="1"/>
          </p:cNvSpPr>
          <p:nvPr>
            <p:ph type="ctrTitle"/>
          </p:nvPr>
        </p:nvSpPr>
        <p:spPr>
          <a:xfrm>
            <a:off x="1352550" y="1131888"/>
            <a:ext cx="9144000" cy="2387600"/>
          </a:xfrm>
        </p:spPr>
        <p:txBody>
          <a:bodyPr>
            <a:normAutofit fontScale="90000"/>
          </a:bodyPr>
          <a:lstStyle/>
          <a:p>
            <a:r>
              <a:rPr lang="en-US" dirty="0"/>
              <a:t>PV (on-site and VIPV), Battery storage, and charger types</a:t>
            </a:r>
            <a:endParaRPr lang="en-SE" dirty="0"/>
          </a:p>
        </p:txBody>
      </p:sp>
      <p:sp>
        <p:nvSpPr>
          <p:cNvPr id="3" name="Subtitle 2">
            <a:extLst>
              <a:ext uri="{FF2B5EF4-FFF2-40B4-BE49-F238E27FC236}">
                <a16:creationId xmlns:a16="http://schemas.microsoft.com/office/drawing/2014/main" id="{FBBAEB7D-3850-E972-7EEA-3AF439E4B08E}"/>
              </a:ext>
            </a:extLst>
          </p:cNvPr>
          <p:cNvSpPr>
            <a:spLocks noGrp="1"/>
          </p:cNvSpPr>
          <p:nvPr>
            <p:ph type="subTitle" idx="1"/>
          </p:nvPr>
        </p:nvSpPr>
        <p:spPr>
          <a:xfrm>
            <a:off x="1352550" y="4524375"/>
            <a:ext cx="9144000" cy="742950"/>
          </a:xfrm>
        </p:spPr>
        <p:txBody>
          <a:bodyPr/>
          <a:lstStyle/>
          <a:p>
            <a:r>
              <a:rPr lang="en-US" b="1" i="1" dirty="0"/>
              <a:t>Infrastructure specifications and turnkey </a:t>
            </a:r>
            <a:r>
              <a:rPr lang="en-US" b="1" i="1" dirty="0" err="1"/>
              <a:t>CapEx</a:t>
            </a:r>
            <a:endParaRPr lang="en-SE" b="1" i="1" dirty="0"/>
          </a:p>
        </p:txBody>
      </p:sp>
      <p:cxnSp>
        <p:nvCxnSpPr>
          <p:cNvPr id="5" name="Straight Connector 4">
            <a:extLst>
              <a:ext uri="{FF2B5EF4-FFF2-40B4-BE49-F238E27FC236}">
                <a16:creationId xmlns:a16="http://schemas.microsoft.com/office/drawing/2014/main" id="{76B42092-CCB7-429E-7487-0534798DF1CB}"/>
              </a:ext>
            </a:extLst>
          </p:cNvPr>
          <p:cNvCxnSpPr/>
          <p:nvPr/>
        </p:nvCxnSpPr>
        <p:spPr>
          <a:xfrm>
            <a:off x="923925" y="3829050"/>
            <a:ext cx="1020127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500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809E6-163B-13AA-4541-2A2A67ABBE80}"/>
            </a:ext>
          </a:extLst>
        </p:cNvPr>
        <p:cNvGrpSpPr/>
        <p:nvPr/>
      </p:nvGrpSpPr>
      <p:grpSpPr>
        <a:xfrm>
          <a:off x="0" y="0"/>
          <a:ext cx="0" cy="0"/>
          <a:chOff x="0" y="0"/>
          <a:chExt cx="0" cy="0"/>
        </a:xfrm>
      </p:grpSpPr>
      <p:sp>
        <p:nvSpPr>
          <p:cNvPr id="24" name="Title 3">
            <a:extLst>
              <a:ext uri="{FF2B5EF4-FFF2-40B4-BE49-F238E27FC236}">
                <a16:creationId xmlns:a16="http://schemas.microsoft.com/office/drawing/2014/main" id="{96E37E0D-FE04-75B5-0BFB-BD83E12B8599}"/>
              </a:ext>
            </a:extLst>
          </p:cNvPr>
          <p:cNvSpPr txBox="1">
            <a:spLocks/>
          </p:cNvSpPr>
          <p:nvPr/>
        </p:nvSpPr>
        <p:spPr>
          <a:xfrm>
            <a:off x="305493" y="167756"/>
            <a:ext cx="11470640" cy="714122"/>
          </a:xfrm>
          <a:prstGeom prst="rect">
            <a:avLst/>
          </a:prstGeom>
        </p:spPr>
        <p:txBody>
          <a:bodyPr vert="horz" lIns="121920" tIns="60960" rIns="121920" bIns="6096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kern="900" dirty="0">
                <a:solidFill>
                  <a:schemeClr val="tx1">
                    <a:lumMod val="50000"/>
                  </a:schemeClr>
                </a:solidFill>
                <a:latin typeface="Times New Roman" panose="02020603050405020304" pitchFamily="18" charset="0"/>
                <a:cs typeface="Times New Roman" panose="02020603050405020304" pitchFamily="18" charset="0"/>
              </a:rPr>
              <a:t>Research conceptualization</a:t>
            </a:r>
          </a:p>
        </p:txBody>
      </p:sp>
      <p:cxnSp>
        <p:nvCxnSpPr>
          <p:cNvPr id="25" name="Straight Connector 24">
            <a:extLst>
              <a:ext uri="{FF2B5EF4-FFF2-40B4-BE49-F238E27FC236}">
                <a16:creationId xmlns:a16="http://schemas.microsoft.com/office/drawing/2014/main" id="{FD8A01AC-8BC0-5587-C89D-665CAE25E2C9}"/>
              </a:ext>
            </a:extLst>
          </p:cNvPr>
          <p:cNvCxnSpPr>
            <a:cxnSpLocks/>
          </p:cNvCxnSpPr>
          <p:nvPr/>
        </p:nvCxnSpPr>
        <p:spPr>
          <a:xfrm>
            <a:off x="0" y="826183"/>
            <a:ext cx="12192000"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35" name="Picture 34">
            <a:extLst>
              <a:ext uri="{FF2B5EF4-FFF2-40B4-BE49-F238E27FC236}">
                <a16:creationId xmlns:a16="http://schemas.microsoft.com/office/drawing/2014/main" id="{2D3774EB-1D38-C9C6-FDA8-E191D1FAAD12}"/>
              </a:ext>
            </a:extLst>
          </p:cNvPr>
          <p:cNvPicPr>
            <a:picLocks noChangeAspect="1"/>
          </p:cNvPicPr>
          <p:nvPr/>
        </p:nvPicPr>
        <p:blipFill>
          <a:blip r:embed="rId3">
            <a:clrChange>
              <a:clrFrom>
                <a:srgbClr val="F5F6FE"/>
              </a:clrFrom>
              <a:clrTo>
                <a:srgbClr val="F5F6FE">
                  <a:alpha val="0"/>
                </a:srgbClr>
              </a:clrTo>
            </a:clrChang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22994" y="4744477"/>
            <a:ext cx="727854" cy="1571683"/>
          </a:xfrm>
          <a:prstGeom prst="rect">
            <a:avLst/>
          </a:prstGeom>
        </p:spPr>
      </p:pic>
      <p:pic>
        <p:nvPicPr>
          <p:cNvPr id="79" name="Picture 78" descr="A screenshot of a map&#10;&#10;AI-generated content may be incorrect.">
            <a:extLst>
              <a:ext uri="{FF2B5EF4-FFF2-40B4-BE49-F238E27FC236}">
                <a16:creationId xmlns:a16="http://schemas.microsoft.com/office/drawing/2014/main" id="{5F4C56DB-4283-5527-2DC8-16587F71159B}"/>
              </a:ext>
            </a:extLst>
          </p:cNvPr>
          <p:cNvPicPr>
            <a:picLocks noChangeAspect="1"/>
          </p:cNvPicPr>
          <p:nvPr/>
        </p:nvPicPr>
        <p:blipFill>
          <a:blip r:embed="rId5" cstate="hq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a:ext>
            </a:extLst>
          </a:blip>
          <a:stretch>
            <a:fillRect/>
          </a:stretch>
        </p:blipFill>
        <p:spPr>
          <a:xfrm>
            <a:off x="9875114" y="4006759"/>
            <a:ext cx="2137524" cy="1839152"/>
          </a:xfrm>
          <a:prstGeom prst="rect">
            <a:avLst/>
          </a:prstGeom>
        </p:spPr>
      </p:pic>
      <p:pic>
        <p:nvPicPr>
          <p:cNvPr id="80" name="Picture 79" descr="A graph of a graph&#10;&#10;AI-generated content may be incorrect.">
            <a:extLst>
              <a:ext uri="{FF2B5EF4-FFF2-40B4-BE49-F238E27FC236}">
                <a16:creationId xmlns:a16="http://schemas.microsoft.com/office/drawing/2014/main" id="{B93DDE41-DC8B-84A9-4E2B-11682705DE97}"/>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9762200" y="716936"/>
            <a:ext cx="2118621" cy="1408555"/>
          </a:xfrm>
          <a:prstGeom prst="rect">
            <a:avLst/>
          </a:prstGeom>
        </p:spPr>
      </p:pic>
      <p:cxnSp>
        <p:nvCxnSpPr>
          <p:cNvPr id="44" name="Straight Connector 43">
            <a:extLst>
              <a:ext uri="{FF2B5EF4-FFF2-40B4-BE49-F238E27FC236}">
                <a16:creationId xmlns:a16="http://schemas.microsoft.com/office/drawing/2014/main" id="{F50D2438-27E8-E487-DFD6-FC83F3A907A8}"/>
              </a:ext>
            </a:extLst>
          </p:cNvPr>
          <p:cNvCxnSpPr>
            <a:cxnSpLocks/>
          </p:cNvCxnSpPr>
          <p:nvPr/>
        </p:nvCxnSpPr>
        <p:spPr>
          <a:xfrm>
            <a:off x="2810079" y="3691719"/>
            <a:ext cx="0" cy="254779"/>
          </a:xfrm>
          <a:prstGeom prst="line">
            <a:avLst/>
          </a:prstGeom>
          <a:ln w="6350"/>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8933780-4FFA-D972-6BBA-FB48102FF892}"/>
              </a:ext>
            </a:extLst>
          </p:cNvPr>
          <p:cNvCxnSpPr>
            <a:cxnSpLocks/>
          </p:cNvCxnSpPr>
          <p:nvPr/>
        </p:nvCxnSpPr>
        <p:spPr>
          <a:xfrm>
            <a:off x="2807919" y="2948285"/>
            <a:ext cx="0" cy="254779"/>
          </a:xfrm>
          <a:prstGeom prst="line">
            <a:avLst/>
          </a:prstGeom>
          <a:ln w="6350"/>
        </p:spPr>
        <p:style>
          <a:lnRef idx="2">
            <a:schemeClr val="accent1"/>
          </a:lnRef>
          <a:fillRef idx="0">
            <a:schemeClr val="accent1"/>
          </a:fillRef>
          <a:effectRef idx="1">
            <a:schemeClr val="accent1"/>
          </a:effectRef>
          <a:fontRef idx="minor">
            <a:schemeClr val="tx1"/>
          </a:fontRef>
        </p:style>
      </p:cxnSp>
      <p:pic>
        <p:nvPicPr>
          <p:cNvPr id="87" name="Picture 86" descr="A person sitting at a desk signing a document&#10;&#10;AI-generated content may be incorrect.">
            <a:extLst>
              <a:ext uri="{FF2B5EF4-FFF2-40B4-BE49-F238E27FC236}">
                <a16:creationId xmlns:a16="http://schemas.microsoft.com/office/drawing/2014/main" id="{4C163F95-73DA-129A-F61C-9360116DFC84}"/>
              </a:ext>
            </a:extLst>
          </p:cNvPr>
          <p:cNvPicPr>
            <a:picLocks noChangeAspect="1"/>
          </p:cNvPicPr>
          <p:nvPr/>
        </p:nvPicPr>
        <p:blipFill>
          <a:blip r:embed="rId8"/>
          <a:stretch>
            <a:fillRect/>
          </a:stretch>
        </p:blipFill>
        <p:spPr>
          <a:xfrm>
            <a:off x="5795238" y="1183661"/>
            <a:ext cx="1128560" cy="1128560"/>
          </a:xfrm>
          <a:prstGeom prst="rect">
            <a:avLst/>
          </a:prstGeom>
        </p:spPr>
      </p:pic>
      <p:sp>
        <p:nvSpPr>
          <p:cNvPr id="20" name="TextBox 19">
            <a:extLst>
              <a:ext uri="{FF2B5EF4-FFF2-40B4-BE49-F238E27FC236}">
                <a16:creationId xmlns:a16="http://schemas.microsoft.com/office/drawing/2014/main" id="{F2E84E42-C3AF-D58A-3CF2-2E5990740354}"/>
              </a:ext>
            </a:extLst>
          </p:cNvPr>
          <p:cNvSpPr txBox="1"/>
          <p:nvPr/>
        </p:nvSpPr>
        <p:spPr>
          <a:xfrm>
            <a:off x="3268031" y="2105506"/>
            <a:ext cx="2205083" cy="1102674"/>
          </a:xfrm>
          <a:prstGeom prst="rect">
            <a:avLst/>
          </a:prstGeom>
          <a:noFill/>
        </p:spPr>
        <p:txBody>
          <a:bodyPr wrap="square">
            <a:spAutoFit/>
          </a:bodyPr>
          <a:lstStyle/>
          <a:p>
            <a:pPr>
              <a:lnSpc>
                <a:spcPct val="120000"/>
              </a:lnSpc>
            </a:pPr>
            <a:r>
              <a:rPr lang="en-US" sz="1400" dirty="0"/>
              <a:t>Home Chargers</a:t>
            </a:r>
          </a:p>
          <a:p>
            <a:pPr>
              <a:lnSpc>
                <a:spcPct val="120000"/>
              </a:lnSpc>
            </a:pPr>
            <a:r>
              <a:rPr lang="en-US" sz="1400" dirty="0"/>
              <a:t>Slow Chargers</a:t>
            </a:r>
          </a:p>
          <a:p>
            <a:pPr>
              <a:lnSpc>
                <a:spcPct val="120000"/>
              </a:lnSpc>
            </a:pPr>
            <a:r>
              <a:rPr lang="en-US" sz="1400" dirty="0"/>
              <a:t>Medium Chargers</a:t>
            </a:r>
          </a:p>
          <a:p>
            <a:pPr>
              <a:lnSpc>
                <a:spcPct val="120000"/>
              </a:lnSpc>
            </a:pPr>
            <a:r>
              <a:rPr lang="en-US" sz="1400" dirty="0"/>
              <a:t>Fast Chargers</a:t>
            </a:r>
          </a:p>
        </p:txBody>
      </p:sp>
      <p:sp>
        <p:nvSpPr>
          <p:cNvPr id="21" name="Rectangle: Rounded Corners 20">
            <a:extLst>
              <a:ext uri="{FF2B5EF4-FFF2-40B4-BE49-F238E27FC236}">
                <a16:creationId xmlns:a16="http://schemas.microsoft.com/office/drawing/2014/main" id="{31EBD6AC-EE80-B627-CFA7-4DFBB982C8DB}"/>
              </a:ext>
            </a:extLst>
          </p:cNvPr>
          <p:cNvSpPr/>
          <p:nvPr/>
        </p:nvSpPr>
        <p:spPr>
          <a:xfrm>
            <a:off x="1406623" y="2446434"/>
            <a:ext cx="1611984" cy="51847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EV Chargers</a:t>
            </a:r>
          </a:p>
        </p:txBody>
      </p:sp>
      <p:sp>
        <p:nvSpPr>
          <p:cNvPr id="22" name="Rectangle: Rounded Corners 21">
            <a:extLst>
              <a:ext uri="{FF2B5EF4-FFF2-40B4-BE49-F238E27FC236}">
                <a16:creationId xmlns:a16="http://schemas.microsoft.com/office/drawing/2014/main" id="{3F1E356B-CDC2-2585-9CBB-1C66C146D7A1}"/>
              </a:ext>
            </a:extLst>
          </p:cNvPr>
          <p:cNvSpPr/>
          <p:nvPr/>
        </p:nvSpPr>
        <p:spPr>
          <a:xfrm>
            <a:off x="1406623" y="3187348"/>
            <a:ext cx="1611984" cy="51847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PV panels</a:t>
            </a:r>
          </a:p>
        </p:txBody>
      </p:sp>
      <p:sp>
        <p:nvSpPr>
          <p:cNvPr id="23" name="Rectangle: Rounded Corners 22">
            <a:extLst>
              <a:ext uri="{FF2B5EF4-FFF2-40B4-BE49-F238E27FC236}">
                <a16:creationId xmlns:a16="http://schemas.microsoft.com/office/drawing/2014/main" id="{232E5850-1D1C-B23C-8C89-2ABB41419DF1}"/>
              </a:ext>
            </a:extLst>
          </p:cNvPr>
          <p:cNvSpPr/>
          <p:nvPr/>
        </p:nvSpPr>
        <p:spPr>
          <a:xfrm>
            <a:off x="1406623" y="3927644"/>
            <a:ext cx="1611984" cy="51847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schemeClr>
                </a:solidFill>
              </a:rPr>
              <a:t>Battery units</a:t>
            </a:r>
          </a:p>
        </p:txBody>
      </p:sp>
      <p:cxnSp>
        <p:nvCxnSpPr>
          <p:cNvPr id="26" name="Straight Connector 25">
            <a:extLst>
              <a:ext uri="{FF2B5EF4-FFF2-40B4-BE49-F238E27FC236}">
                <a16:creationId xmlns:a16="http://schemas.microsoft.com/office/drawing/2014/main" id="{0EAED813-EE93-6883-E8B4-A35050120E7F}"/>
              </a:ext>
            </a:extLst>
          </p:cNvPr>
          <p:cNvCxnSpPr>
            <a:cxnSpLocks/>
          </p:cNvCxnSpPr>
          <p:nvPr/>
        </p:nvCxnSpPr>
        <p:spPr>
          <a:xfrm>
            <a:off x="3282701" y="2183628"/>
            <a:ext cx="0" cy="993614"/>
          </a:xfrm>
          <a:prstGeom prst="line">
            <a:avLst/>
          </a:prstGeom>
          <a:ln w="6350"/>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CFE0EC91-83FC-B0C5-C436-6AE212350C6E}"/>
              </a:ext>
            </a:extLst>
          </p:cNvPr>
          <p:cNvSpPr txBox="1"/>
          <p:nvPr/>
        </p:nvSpPr>
        <p:spPr>
          <a:xfrm>
            <a:off x="737123" y="1318136"/>
            <a:ext cx="2205079" cy="775084"/>
          </a:xfrm>
          <a:prstGeom prst="rect">
            <a:avLst/>
          </a:prstGeom>
          <a:noFill/>
        </p:spPr>
        <p:txBody>
          <a:bodyPr wrap="square">
            <a:spAutoFit/>
          </a:bodyPr>
          <a:lstStyle/>
          <a:p>
            <a:pPr>
              <a:lnSpc>
                <a:spcPct val="130000"/>
              </a:lnSpc>
            </a:pPr>
            <a:r>
              <a:rPr lang="en-US" sz="1800" b="1" dirty="0">
                <a:solidFill>
                  <a:schemeClr val="tx1">
                    <a:lumMod val="50000"/>
                  </a:schemeClr>
                </a:solidFill>
              </a:rPr>
              <a:t>EV Charging</a:t>
            </a:r>
          </a:p>
          <a:p>
            <a:pPr>
              <a:lnSpc>
                <a:spcPct val="130000"/>
              </a:lnSpc>
            </a:pPr>
            <a:r>
              <a:rPr lang="en-US" sz="1800" b="1" dirty="0">
                <a:solidFill>
                  <a:schemeClr val="tx1">
                    <a:lumMod val="50000"/>
                  </a:schemeClr>
                </a:solidFill>
              </a:rPr>
              <a:t>Infrastructure</a:t>
            </a:r>
          </a:p>
        </p:txBody>
      </p:sp>
      <p:sp>
        <p:nvSpPr>
          <p:cNvPr id="29" name="TextBox 28">
            <a:extLst>
              <a:ext uri="{FF2B5EF4-FFF2-40B4-BE49-F238E27FC236}">
                <a16:creationId xmlns:a16="http://schemas.microsoft.com/office/drawing/2014/main" id="{07A6B9E4-EA4A-7318-CD4D-BEE6AEE59BBE}"/>
              </a:ext>
            </a:extLst>
          </p:cNvPr>
          <p:cNvSpPr txBox="1"/>
          <p:nvPr/>
        </p:nvSpPr>
        <p:spPr>
          <a:xfrm rot="16200000">
            <a:off x="-213880" y="3051919"/>
            <a:ext cx="2394179" cy="507831"/>
          </a:xfrm>
          <a:prstGeom prst="rect">
            <a:avLst/>
          </a:prstGeom>
          <a:noFill/>
        </p:spPr>
        <p:txBody>
          <a:bodyPr wrap="square">
            <a:spAutoFit/>
          </a:bodyPr>
          <a:lstStyle/>
          <a:p>
            <a:r>
              <a:rPr lang="en-US" dirty="0">
                <a:solidFill>
                  <a:schemeClr val="tx1">
                    <a:lumMod val="50000"/>
                  </a:schemeClr>
                </a:solidFill>
              </a:rPr>
              <a:t>Spatiotemporal</a:t>
            </a:r>
            <a:r>
              <a:rPr lang="en-US" b="1" dirty="0">
                <a:solidFill>
                  <a:schemeClr val="tx1">
                    <a:lumMod val="50000"/>
                  </a:schemeClr>
                </a:solidFill>
              </a:rPr>
              <a:t> Charging Demands</a:t>
            </a:r>
            <a:endParaRPr lang="en-US" dirty="0">
              <a:solidFill>
                <a:schemeClr val="tx1">
                  <a:lumMod val="50000"/>
                </a:schemeClr>
              </a:solidFill>
            </a:endParaRPr>
          </a:p>
        </p:txBody>
      </p:sp>
      <p:sp>
        <p:nvSpPr>
          <p:cNvPr id="30" name="TextBox 29">
            <a:extLst>
              <a:ext uri="{FF2B5EF4-FFF2-40B4-BE49-F238E27FC236}">
                <a16:creationId xmlns:a16="http://schemas.microsoft.com/office/drawing/2014/main" id="{09F2436E-8AFE-5D30-FFFB-6AF98BE2E380}"/>
              </a:ext>
            </a:extLst>
          </p:cNvPr>
          <p:cNvSpPr txBox="1"/>
          <p:nvPr/>
        </p:nvSpPr>
        <p:spPr>
          <a:xfrm>
            <a:off x="3255999" y="1420310"/>
            <a:ext cx="2154637" cy="584775"/>
          </a:xfrm>
          <a:prstGeom prst="rect">
            <a:avLst/>
          </a:prstGeom>
          <a:noFill/>
        </p:spPr>
        <p:txBody>
          <a:bodyPr wrap="square">
            <a:spAutoFit/>
          </a:bodyPr>
          <a:lstStyle/>
          <a:p>
            <a:r>
              <a:rPr lang="en-US" sz="1600" b="1" dirty="0">
                <a:solidFill>
                  <a:schemeClr val="tx1">
                    <a:lumMod val="50000"/>
                  </a:schemeClr>
                </a:solidFill>
              </a:rPr>
              <a:t>Where &amp; How many to install?</a:t>
            </a:r>
            <a:endParaRPr lang="en-US" sz="1200" dirty="0">
              <a:solidFill>
                <a:schemeClr val="tx1">
                  <a:lumMod val="50000"/>
                </a:schemeClr>
              </a:solidFill>
            </a:endParaRPr>
          </a:p>
        </p:txBody>
      </p:sp>
      <p:sp>
        <p:nvSpPr>
          <p:cNvPr id="31" name="Arrow: Right 30">
            <a:extLst>
              <a:ext uri="{FF2B5EF4-FFF2-40B4-BE49-F238E27FC236}">
                <a16:creationId xmlns:a16="http://schemas.microsoft.com/office/drawing/2014/main" id="{AB822177-6409-43E9-D5BC-816E12B428B2}"/>
              </a:ext>
            </a:extLst>
          </p:cNvPr>
          <p:cNvSpPr/>
          <p:nvPr/>
        </p:nvSpPr>
        <p:spPr>
          <a:xfrm>
            <a:off x="5539475" y="2178953"/>
            <a:ext cx="2045028" cy="98954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lumMod val="50000"/>
                  </a:schemeClr>
                </a:solidFill>
              </a:rPr>
              <a:t>Charger capacity</a:t>
            </a:r>
            <a:endParaRPr lang="en-US" sz="1100" dirty="0">
              <a:solidFill>
                <a:schemeClr val="tx1">
                  <a:lumMod val="50000"/>
                </a:schemeClr>
              </a:solidFill>
            </a:endParaRPr>
          </a:p>
        </p:txBody>
      </p:sp>
      <p:sp>
        <p:nvSpPr>
          <p:cNvPr id="32" name="Arrow: Right 31">
            <a:extLst>
              <a:ext uri="{FF2B5EF4-FFF2-40B4-BE49-F238E27FC236}">
                <a16:creationId xmlns:a16="http://schemas.microsoft.com/office/drawing/2014/main" id="{D7978436-D772-632B-EA25-6ADEA2C5B053}"/>
              </a:ext>
            </a:extLst>
          </p:cNvPr>
          <p:cNvSpPr/>
          <p:nvPr/>
        </p:nvSpPr>
        <p:spPr>
          <a:xfrm>
            <a:off x="5068074" y="3052011"/>
            <a:ext cx="1761635" cy="98954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lumMod val="50000"/>
                  </a:schemeClr>
                </a:solidFill>
              </a:rPr>
              <a:t>PV potential</a:t>
            </a:r>
            <a:endParaRPr lang="en-US" sz="1100" dirty="0">
              <a:solidFill>
                <a:schemeClr val="tx1">
                  <a:lumMod val="50000"/>
                </a:schemeClr>
              </a:solidFill>
            </a:endParaRPr>
          </a:p>
        </p:txBody>
      </p:sp>
      <p:sp>
        <p:nvSpPr>
          <p:cNvPr id="33" name="Arrow: Right 32">
            <a:extLst>
              <a:ext uri="{FF2B5EF4-FFF2-40B4-BE49-F238E27FC236}">
                <a16:creationId xmlns:a16="http://schemas.microsoft.com/office/drawing/2014/main" id="{109F1DA6-52D1-786D-D7E8-E70E61CA5361}"/>
              </a:ext>
            </a:extLst>
          </p:cNvPr>
          <p:cNvSpPr/>
          <p:nvPr/>
        </p:nvSpPr>
        <p:spPr>
          <a:xfrm>
            <a:off x="4068138" y="3933835"/>
            <a:ext cx="2154219" cy="98954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lumMod val="50000"/>
                  </a:schemeClr>
                </a:solidFill>
              </a:rPr>
              <a:t>Implement Solar PV</a:t>
            </a:r>
            <a:endParaRPr lang="en-US" sz="1100" dirty="0">
              <a:solidFill>
                <a:schemeClr val="tx1">
                  <a:lumMod val="50000"/>
                </a:schemeClr>
              </a:solidFill>
            </a:endParaRPr>
          </a:p>
        </p:txBody>
      </p:sp>
      <p:sp>
        <p:nvSpPr>
          <p:cNvPr id="34" name="Arrow: Right 33">
            <a:extLst>
              <a:ext uri="{FF2B5EF4-FFF2-40B4-BE49-F238E27FC236}">
                <a16:creationId xmlns:a16="http://schemas.microsoft.com/office/drawing/2014/main" id="{B4F98EBD-5A33-B091-C344-4BF98DCC3837}"/>
              </a:ext>
            </a:extLst>
          </p:cNvPr>
          <p:cNvSpPr/>
          <p:nvPr/>
        </p:nvSpPr>
        <p:spPr>
          <a:xfrm>
            <a:off x="2710643" y="4825845"/>
            <a:ext cx="2783610" cy="98954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lumMod val="50000"/>
                  </a:schemeClr>
                </a:solidFill>
              </a:rPr>
              <a:t>Power Grid electricity</a:t>
            </a:r>
          </a:p>
        </p:txBody>
      </p:sp>
      <p:sp>
        <p:nvSpPr>
          <p:cNvPr id="36" name="TextBox 35">
            <a:extLst>
              <a:ext uri="{FF2B5EF4-FFF2-40B4-BE49-F238E27FC236}">
                <a16:creationId xmlns:a16="http://schemas.microsoft.com/office/drawing/2014/main" id="{B7A2271B-82A4-E004-746D-321010CBD4F4}"/>
              </a:ext>
            </a:extLst>
          </p:cNvPr>
          <p:cNvSpPr txBox="1"/>
          <p:nvPr/>
        </p:nvSpPr>
        <p:spPr>
          <a:xfrm>
            <a:off x="3108732" y="5620733"/>
            <a:ext cx="1781149" cy="307777"/>
          </a:xfrm>
          <a:prstGeom prst="rect">
            <a:avLst/>
          </a:prstGeom>
          <a:noFill/>
        </p:spPr>
        <p:txBody>
          <a:bodyPr wrap="square">
            <a:spAutoFit/>
          </a:bodyPr>
          <a:lstStyle/>
          <a:p>
            <a:r>
              <a:rPr lang="en-US" sz="1400" dirty="0"/>
              <a:t>Time-of-use</a:t>
            </a:r>
            <a:r>
              <a:rPr lang="en-US" sz="1400" i="1" dirty="0"/>
              <a:t> prices</a:t>
            </a:r>
            <a:endParaRPr lang="en-US" sz="1100" i="1" dirty="0"/>
          </a:p>
        </p:txBody>
      </p:sp>
      <p:cxnSp>
        <p:nvCxnSpPr>
          <p:cNvPr id="37" name="Straight Connector 36">
            <a:extLst>
              <a:ext uri="{FF2B5EF4-FFF2-40B4-BE49-F238E27FC236}">
                <a16:creationId xmlns:a16="http://schemas.microsoft.com/office/drawing/2014/main" id="{566AAD9B-69FC-3770-B00E-22DBA00F6342}"/>
              </a:ext>
            </a:extLst>
          </p:cNvPr>
          <p:cNvCxnSpPr>
            <a:cxnSpLocks/>
          </p:cNvCxnSpPr>
          <p:nvPr/>
        </p:nvCxnSpPr>
        <p:spPr>
          <a:xfrm>
            <a:off x="1838629" y="1761870"/>
            <a:ext cx="1136753"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CAF06023-8865-3823-24DA-DA3739A59920}"/>
              </a:ext>
            </a:extLst>
          </p:cNvPr>
          <p:cNvSpPr txBox="1"/>
          <p:nvPr/>
        </p:nvSpPr>
        <p:spPr>
          <a:xfrm>
            <a:off x="4037909" y="3375567"/>
            <a:ext cx="1346246" cy="523220"/>
          </a:xfrm>
          <a:prstGeom prst="rect">
            <a:avLst/>
          </a:prstGeom>
          <a:noFill/>
        </p:spPr>
        <p:txBody>
          <a:bodyPr wrap="square">
            <a:spAutoFit/>
          </a:bodyPr>
          <a:lstStyle/>
          <a:p>
            <a:r>
              <a:rPr lang="en-US" sz="1400" dirty="0"/>
              <a:t>Temporal variability</a:t>
            </a:r>
            <a:endParaRPr lang="en-US" sz="1100" dirty="0"/>
          </a:p>
        </p:txBody>
      </p:sp>
      <p:sp>
        <p:nvSpPr>
          <p:cNvPr id="89" name="TextBox 88">
            <a:extLst>
              <a:ext uri="{FF2B5EF4-FFF2-40B4-BE49-F238E27FC236}">
                <a16:creationId xmlns:a16="http://schemas.microsoft.com/office/drawing/2014/main" id="{BA199A6A-BF95-F419-E7C0-F93D7F53598D}"/>
              </a:ext>
            </a:extLst>
          </p:cNvPr>
          <p:cNvSpPr txBox="1"/>
          <p:nvPr/>
        </p:nvSpPr>
        <p:spPr>
          <a:xfrm>
            <a:off x="6996466" y="1273494"/>
            <a:ext cx="1118923" cy="830997"/>
          </a:xfrm>
          <a:prstGeom prst="rect">
            <a:avLst/>
          </a:prstGeom>
          <a:noFill/>
        </p:spPr>
        <p:txBody>
          <a:bodyPr wrap="square">
            <a:spAutoFit/>
          </a:bodyPr>
          <a:lstStyle/>
          <a:p>
            <a:r>
              <a:rPr lang="en-US" sz="1600" b="1" dirty="0">
                <a:solidFill>
                  <a:schemeClr val="tx1">
                    <a:lumMod val="50000"/>
                  </a:schemeClr>
                </a:solidFill>
              </a:rPr>
              <a:t>C</a:t>
            </a:r>
            <a:r>
              <a:rPr lang="en-US" sz="1400" dirty="0">
                <a:solidFill>
                  <a:schemeClr val="tx1">
                    <a:lumMod val="50000"/>
                  </a:schemeClr>
                </a:solidFill>
              </a:rPr>
              <a:t>harger</a:t>
            </a:r>
            <a:r>
              <a:rPr lang="en-US" sz="1600" dirty="0">
                <a:solidFill>
                  <a:schemeClr val="tx1">
                    <a:lumMod val="50000"/>
                  </a:schemeClr>
                </a:solidFill>
              </a:rPr>
              <a:t> </a:t>
            </a:r>
            <a:r>
              <a:rPr lang="en-US" sz="1600" b="1" dirty="0">
                <a:solidFill>
                  <a:schemeClr val="tx1">
                    <a:lumMod val="50000"/>
                  </a:schemeClr>
                </a:solidFill>
              </a:rPr>
              <a:t>P</a:t>
            </a:r>
            <a:r>
              <a:rPr lang="en-US" sz="1400" dirty="0">
                <a:solidFill>
                  <a:schemeClr val="tx1">
                    <a:lumMod val="50000"/>
                  </a:schemeClr>
                </a:solidFill>
              </a:rPr>
              <a:t>oint</a:t>
            </a:r>
            <a:r>
              <a:rPr lang="en-US" sz="1600" dirty="0">
                <a:solidFill>
                  <a:schemeClr val="tx1">
                    <a:lumMod val="50000"/>
                  </a:schemeClr>
                </a:solidFill>
              </a:rPr>
              <a:t> </a:t>
            </a:r>
            <a:r>
              <a:rPr lang="en-US" sz="1600" b="1" dirty="0">
                <a:solidFill>
                  <a:schemeClr val="tx1">
                    <a:lumMod val="50000"/>
                  </a:schemeClr>
                </a:solidFill>
              </a:rPr>
              <a:t>O</a:t>
            </a:r>
            <a:r>
              <a:rPr lang="en-US" sz="1400" dirty="0">
                <a:solidFill>
                  <a:schemeClr val="tx1">
                    <a:lumMod val="50000"/>
                  </a:schemeClr>
                </a:solidFill>
              </a:rPr>
              <a:t>perator</a:t>
            </a:r>
            <a:endParaRPr lang="en-SE" sz="1600" dirty="0">
              <a:solidFill>
                <a:schemeClr val="tx1">
                  <a:lumMod val="50000"/>
                </a:schemeClr>
              </a:solidFill>
            </a:endParaRPr>
          </a:p>
        </p:txBody>
      </p:sp>
      <p:sp>
        <p:nvSpPr>
          <p:cNvPr id="81" name="TextBox 80">
            <a:extLst>
              <a:ext uri="{FF2B5EF4-FFF2-40B4-BE49-F238E27FC236}">
                <a16:creationId xmlns:a16="http://schemas.microsoft.com/office/drawing/2014/main" id="{2B511385-C9E6-4AAE-FDA0-A47C753574B2}"/>
              </a:ext>
            </a:extLst>
          </p:cNvPr>
          <p:cNvSpPr txBox="1"/>
          <p:nvPr/>
        </p:nvSpPr>
        <p:spPr>
          <a:xfrm>
            <a:off x="6120646" y="5589102"/>
            <a:ext cx="3319088" cy="276999"/>
          </a:xfrm>
          <a:prstGeom prst="rect">
            <a:avLst/>
          </a:prstGeom>
          <a:noFill/>
        </p:spPr>
        <p:txBody>
          <a:bodyPr wrap="square">
            <a:spAutoFit/>
          </a:bodyPr>
          <a:lstStyle/>
          <a:p>
            <a:pPr algn="r"/>
            <a:r>
              <a:rPr lang="en-US" sz="1200" i="1" dirty="0"/>
              <a:t>Spatio-Temporal charging events</a:t>
            </a:r>
          </a:p>
        </p:txBody>
      </p:sp>
      <p:sp>
        <p:nvSpPr>
          <p:cNvPr id="5" name="TextBox 4">
            <a:extLst>
              <a:ext uri="{FF2B5EF4-FFF2-40B4-BE49-F238E27FC236}">
                <a16:creationId xmlns:a16="http://schemas.microsoft.com/office/drawing/2014/main" id="{37382725-DFF7-6600-68B0-D6F5E7D521BC}"/>
              </a:ext>
            </a:extLst>
          </p:cNvPr>
          <p:cNvSpPr txBox="1"/>
          <p:nvPr/>
        </p:nvSpPr>
        <p:spPr>
          <a:xfrm>
            <a:off x="6103826" y="5232364"/>
            <a:ext cx="3366605" cy="338554"/>
          </a:xfrm>
          <a:prstGeom prst="rect">
            <a:avLst/>
          </a:prstGeom>
          <a:noFill/>
        </p:spPr>
        <p:txBody>
          <a:bodyPr wrap="square">
            <a:spAutoFit/>
          </a:bodyPr>
          <a:lstStyle/>
          <a:p>
            <a:pPr algn="r"/>
            <a:r>
              <a:rPr lang="en-US" sz="1600" b="1" dirty="0">
                <a:solidFill>
                  <a:schemeClr val="tx1">
                    <a:lumMod val="50000"/>
                  </a:schemeClr>
                </a:solidFill>
              </a:rPr>
              <a:t>Satisfy EV charging demands</a:t>
            </a:r>
            <a:endParaRPr lang="en-US" sz="1600" dirty="0">
              <a:solidFill>
                <a:schemeClr val="tx1">
                  <a:lumMod val="50000"/>
                </a:schemeClr>
              </a:solidFill>
            </a:endParaRPr>
          </a:p>
        </p:txBody>
      </p:sp>
      <p:sp>
        <p:nvSpPr>
          <p:cNvPr id="6" name="TextBox 5">
            <a:extLst>
              <a:ext uri="{FF2B5EF4-FFF2-40B4-BE49-F238E27FC236}">
                <a16:creationId xmlns:a16="http://schemas.microsoft.com/office/drawing/2014/main" id="{11382EFB-6F4B-0C40-E851-F3A7ECBF5A92}"/>
              </a:ext>
            </a:extLst>
          </p:cNvPr>
          <p:cNvSpPr txBox="1"/>
          <p:nvPr/>
        </p:nvSpPr>
        <p:spPr>
          <a:xfrm>
            <a:off x="6915033" y="4725628"/>
            <a:ext cx="2552694" cy="276999"/>
          </a:xfrm>
          <a:prstGeom prst="rect">
            <a:avLst/>
          </a:prstGeom>
          <a:noFill/>
        </p:spPr>
        <p:txBody>
          <a:bodyPr wrap="square">
            <a:spAutoFit/>
          </a:bodyPr>
          <a:lstStyle/>
          <a:p>
            <a:pPr algn="r"/>
            <a:r>
              <a:rPr lang="en-US" sz="1200" i="1" dirty="0"/>
              <a:t>Temporal Demand Peak shave-off</a:t>
            </a:r>
          </a:p>
        </p:txBody>
      </p:sp>
      <p:sp>
        <p:nvSpPr>
          <p:cNvPr id="7" name="TextBox 6">
            <a:extLst>
              <a:ext uri="{FF2B5EF4-FFF2-40B4-BE49-F238E27FC236}">
                <a16:creationId xmlns:a16="http://schemas.microsoft.com/office/drawing/2014/main" id="{BD90A1B1-3791-2A73-4D1D-212D6B3DCB49}"/>
              </a:ext>
            </a:extLst>
          </p:cNvPr>
          <p:cNvSpPr txBox="1"/>
          <p:nvPr/>
        </p:nvSpPr>
        <p:spPr>
          <a:xfrm>
            <a:off x="6898213" y="4384012"/>
            <a:ext cx="2585253" cy="338554"/>
          </a:xfrm>
          <a:prstGeom prst="rect">
            <a:avLst/>
          </a:prstGeom>
          <a:noFill/>
        </p:spPr>
        <p:txBody>
          <a:bodyPr wrap="square">
            <a:spAutoFit/>
          </a:bodyPr>
          <a:lstStyle/>
          <a:p>
            <a:pPr algn="r"/>
            <a:r>
              <a:rPr lang="en-US" sz="1600" b="1" dirty="0">
                <a:solidFill>
                  <a:schemeClr val="tx1">
                    <a:lumMod val="50000"/>
                  </a:schemeClr>
                </a:solidFill>
              </a:rPr>
              <a:t>Cost Optimal Solution</a:t>
            </a:r>
            <a:endParaRPr lang="en-US" sz="1600" dirty="0">
              <a:solidFill>
                <a:schemeClr val="tx1">
                  <a:lumMod val="50000"/>
                </a:schemeClr>
              </a:solidFill>
            </a:endParaRPr>
          </a:p>
        </p:txBody>
      </p:sp>
      <p:cxnSp>
        <p:nvCxnSpPr>
          <p:cNvPr id="10" name="Straight Connector 9">
            <a:extLst>
              <a:ext uri="{FF2B5EF4-FFF2-40B4-BE49-F238E27FC236}">
                <a16:creationId xmlns:a16="http://schemas.microsoft.com/office/drawing/2014/main" id="{61FA14B0-4B76-D77D-7C81-EB6639A38AF1}"/>
              </a:ext>
            </a:extLst>
          </p:cNvPr>
          <p:cNvCxnSpPr>
            <a:cxnSpLocks/>
          </p:cNvCxnSpPr>
          <p:nvPr/>
        </p:nvCxnSpPr>
        <p:spPr>
          <a:xfrm>
            <a:off x="7536086" y="5579021"/>
            <a:ext cx="19473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5401C28-8C89-00BB-E12C-65F3469CDA95}"/>
              </a:ext>
            </a:extLst>
          </p:cNvPr>
          <p:cNvCxnSpPr>
            <a:cxnSpLocks/>
          </p:cNvCxnSpPr>
          <p:nvPr/>
        </p:nvCxnSpPr>
        <p:spPr>
          <a:xfrm>
            <a:off x="7508654" y="4708767"/>
            <a:ext cx="194738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631097A8-8945-BC48-5DBD-FBCD3A93A45B}"/>
              </a:ext>
            </a:extLst>
          </p:cNvPr>
          <p:cNvGrpSpPr/>
          <p:nvPr/>
        </p:nvGrpSpPr>
        <p:grpSpPr>
          <a:xfrm>
            <a:off x="6915033" y="3497424"/>
            <a:ext cx="2577264" cy="622064"/>
            <a:chOff x="6915033" y="3598008"/>
            <a:chExt cx="2577264" cy="622064"/>
          </a:xfrm>
        </p:grpSpPr>
        <p:sp>
          <p:nvSpPr>
            <p:cNvPr id="8" name="TextBox 7">
              <a:extLst>
                <a:ext uri="{FF2B5EF4-FFF2-40B4-BE49-F238E27FC236}">
                  <a16:creationId xmlns:a16="http://schemas.microsoft.com/office/drawing/2014/main" id="{F5276121-C020-889F-20DB-BAF761B50D61}"/>
                </a:ext>
              </a:extLst>
            </p:cNvPr>
            <p:cNvSpPr txBox="1"/>
            <p:nvPr/>
          </p:nvSpPr>
          <p:spPr>
            <a:xfrm>
              <a:off x="7099749" y="3943073"/>
              <a:ext cx="2335929" cy="276999"/>
            </a:xfrm>
            <a:prstGeom prst="rect">
              <a:avLst/>
            </a:prstGeom>
            <a:noFill/>
          </p:spPr>
          <p:txBody>
            <a:bodyPr wrap="square">
              <a:spAutoFit/>
            </a:bodyPr>
            <a:lstStyle/>
            <a:p>
              <a:pPr algn="r"/>
              <a:r>
                <a:rPr lang="en-US" sz="1200" i="1" dirty="0"/>
                <a:t>Solar PV and battery storage</a:t>
              </a:r>
            </a:p>
          </p:txBody>
        </p:sp>
        <p:sp>
          <p:nvSpPr>
            <p:cNvPr id="9" name="TextBox 8">
              <a:extLst>
                <a:ext uri="{FF2B5EF4-FFF2-40B4-BE49-F238E27FC236}">
                  <a16:creationId xmlns:a16="http://schemas.microsoft.com/office/drawing/2014/main" id="{94EF2DC3-D4BA-2E05-9AD2-2BCF5CE64E1C}"/>
                </a:ext>
              </a:extLst>
            </p:cNvPr>
            <p:cNvSpPr txBox="1"/>
            <p:nvPr/>
          </p:nvSpPr>
          <p:spPr>
            <a:xfrm>
              <a:off x="6915033" y="3598008"/>
              <a:ext cx="2577264" cy="338554"/>
            </a:xfrm>
            <a:prstGeom prst="rect">
              <a:avLst/>
            </a:prstGeom>
            <a:noFill/>
          </p:spPr>
          <p:txBody>
            <a:bodyPr wrap="square">
              <a:spAutoFit/>
            </a:bodyPr>
            <a:lstStyle/>
            <a:p>
              <a:pPr algn="r"/>
              <a:r>
                <a:rPr lang="en-US" sz="1600" b="1" dirty="0">
                  <a:solidFill>
                    <a:schemeClr val="tx1">
                      <a:lumMod val="50000"/>
                    </a:schemeClr>
                  </a:solidFill>
                </a:rPr>
                <a:t>Renewable inclusion</a:t>
              </a:r>
              <a:endParaRPr lang="en-US" sz="1600" dirty="0">
                <a:solidFill>
                  <a:schemeClr val="tx1">
                    <a:lumMod val="50000"/>
                  </a:schemeClr>
                </a:solidFill>
              </a:endParaRPr>
            </a:p>
          </p:txBody>
        </p:sp>
        <p:cxnSp>
          <p:nvCxnSpPr>
            <p:cNvPr id="16" name="Straight Connector 15">
              <a:extLst>
                <a:ext uri="{FF2B5EF4-FFF2-40B4-BE49-F238E27FC236}">
                  <a16:creationId xmlns:a16="http://schemas.microsoft.com/office/drawing/2014/main" id="{D272DC91-C182-A53D-717F-090C2C4DF4DD}"/>
                </a:ext>
              </a:extLst>
            </p:cNvPr>
            <p:cNvCxnSpPr>
              <a:cxnSpLocks/>
            </p:cNvCxnSpPr>
            <p:nvPr/>
          </p:nvCxnSpPr>
          <p:spPr>
            <a:xfrm>
              <a:off x="7508654" y="3940102"/>
              <a:ext cx="1947380"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7" name="TextBox 16">
            <a:extLst>
              <a:ext uri="{FF2B5EF4-FFF2-40B4-BE49-F238E27FC236}">
                <a16:creationId xmlns:a16="http://schemas.microsoft.com/office/drawing/2014/main" id="{A80565EE-A6E7-3D8C-3028-6CA9027C0C52}"/>
              </a:ext>
            </a:extLst>
          </p:cNvPr>
          <p:cNvSpPr txBox="1"/>
          <p:nvPr/>
        </p:nvSpPr>
        <p:spPr>
          <a:xfrm>
            <a:off x="7828202" y="1985221"/>
            <a:ext cx="1614290" cy="584775"/>
          </a:xfrm>
          <a:prstGeom prst="rect">
            <a:avLst/>
          </a:prstGeom>
          <a:noFill/>
        </p:spPr>
        <p:txBody>
          <a:bodyPr wrap="square">
            <a:spAutoFit/>
          </a:bodyPr>
          <a:lstStyle/>
          <a:p>
            <a:pPr algn="r"/>
            <a:r>
              <a:rPr lang="en-US" sz="1600" b="1" dirty="0">
                <a:solidFill>
                  <a:schemeClr val="tx1">
                    <a:lumMod val="50000"/>
                  </a:schemeClr>
                </a:solidFill>
              </a:rPr>
              <a:t>Joint Optimization</a:t>
            </a:r>
            <a:endParaRPr lang="en-US" sz="1600" dirty="0">
              <a:solidFill>
                <a:schemeClr val="tx1">
                  <a:lumMod val="50000"/>
                </a:schemeClr>
              </a:solidFill>
            </a:endParaRPr>
          </a:p>
        </p:txBody>
      </p:sp>
      <p:sp>
        <p:nvSpPr>
          <p:cNvPr id="39" name="TextBox 38">
            <a:extLst>
              <a:ext uri="{FF2B5EF4-FFF2-40B4-BE49-F238E27FC236}">
                <a16:creationId xmlns:a16="http://schemas.microsoft.com/office/drawing/2014/main" id="{856CB1D5-C3E7-E33B-82F3-3873750FD238}"/>
              </a:ext>
            </a:extLst>
          </p:cNvPr>
          <p:cNvSpPr txBox="1"/>
          <p:nvPr/>
        </p:nvSpPr>
        <p:spPr>
          <a:xfrm>
            <a:off x="7718966" y="2631072"/>
            <a:ext cx="1723527" cy="646331"/>
          </a:xfrm>
          <a:prstGeom prst="rect">
            <a:avLst/>
          </a:prstGeom>
          <a:noFill/>
        </p:spPr>
        <p:txBody>
          <a:bodyPr wrap="square">
            <a:spAutoFit/>
          </a:bodyPr>
          <a:lstStyle/>
          <a:p>
            <a:pPr algn="r"/>
            <a:r>
              <a:rPr lang="en-US" sz="1200" i="1" dirty="0"/>
              <a:t>Multi-class chargers, Redirections, Solar PV and battery storage</a:t>
            </a:r>
          </a:p>
        </p:txBody>
      </p:sp>
      <p:cxnSp>
        <p:nvCxnSpPr>
          <p:cNvPr id="40" name="Straight Connector 39">
            <a:extLst>
              <a:ext uri="{FF2B5EF4-FFF2-40B4-BE49-F238E27FC236}">
                <a16:creationId xmlns:a16="http://schemas.microsoft.com/office/drawing/2014/main" id="{2BFE4DDF-F433-5A1F-2FBC-9D559D0BA94F}"/>
              </a:ext>
            </a:extLst>
          </p:cNvPr>
          <p:cNvCxnSpPr>
            <a:cxnSpLocks/>
          </p:cNvCxnSpPr>
          <p:nvPr/>
        </p:nvCxnSpPr>
        <p:spPr>
          <a:xfrm>
            <a:off x="8020788" y="2588370"/>
            <a:ext cx="1446939" cy="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11A03DFA-C25C-7442-1779-E360172F704C}"/>
              </a:ext>
            </a:extLst>
          </p:cNvPr>
          <p:cNvSpPr txBox="1"/>
          <p:nvPr/>
        </p:nvSpPr>
        <p:spPr>
          <a:xfrm>
            <a:off x="1019371" y="4627375"/>
            <a:ext cx="1586341" cy="1384995"/>
          </a:xfrm>
          <a:prstGeom prst="rect">
            <a:avLst/>
          </a:prstGeom>
          <a:noFill/>
        </p:spPr>
        <p:txBody>
          <a:bodyPr wrap="square">
            <a:spAutoFit/>
          </a:bodyPr>
          <a:lstStyle/>
          <a:p>
            <a:pPr algn="r"/>
            <a:r>
              <a:rPr lang="en-US" sz="1400" dirty="0"/>
              <a:t>Accessibility to infrastructure</a:t>
            </a:r>
          </a:p>
          <a:p>
            <a:pPr algn="r"/>
            <a:endParaRPr lang="en-US" sz="1400" dirty="0"/>
          </a:p>
          <a:p>
            <a:pPr algn="r"/>
            <a:r>
              <a:rPr lang="en-US" sz="1400" dirty="0"/>
              <a:t>Redirect Demand</a:t>
            </a:r>
          </a:p>
          <a:p>
            <a:pPr algn="r"/>
            <a:r>
              <a:rPr lang="en-US" sz="1400" dirty="0"/>
              <a:t>User-Incentives</a:t>
            </a:r>
          </a:p>
          <a:p>
            <a:pPr algn="r"/>
            <a:endParaRPr lang="en-US" sz="1400" dirty="0"/>
          </a:p>
        </p:txBody>
      </p:sp>
      <p:cxnSp>
        <p:nvCxnSpPr>
          <p:cNvPr id="45" name="Straight Connector 44">
            <a:extLst>
              <a:ext uri="{FF2B5EF4-FFF2-40B4-BE49-F238E27FC236}">
                <a16:creationId xmlns:a16="http://schemas.microsoft.com/office/drawing/2014/main" id="{EEE71D4E-7C00-E510-5D97-BC2688C007CB}"/>
              </a:ext>
            </a:extLst>
          </p:cNvPr>
          <p:cNvCxnSpPr>
            <a:cxnSpLocks/>
          </p:cNvCxnSpPr>
          <p:nvPr/>
        </p:nvCxnSpPr>
        <p:spPr>
          <a:xfrm>
            <a:off x="2668664" y="1755894"/>
            <a:ext cx="0" cy="696128"/>
          </a:xfrm>
          <a:prstGeom prst="line">
            <a:avLst/>
          </a:prstGeom>
          <a:ln w="6350"/>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AF1CC9B-1C6A-5F8D-20B9-A3AA21C32DF5}"/>
              </a:ext>
            </a:extLst>
          </p:cNvPr>
          <p:cNvSpPr txBox="1"/>
          <p:nvPr/>
        </p:nvSpPr>
        <p:spPr>
          <a:xfrm rot="16200000">
            <a:off x="3235209" y="4116082"/>
            <a:ext cx="1036369" cy="492443"/>
          </a:xfrm>
          <a:prstGeom prst="rect">
            <a:avLst/>
          </a:prstGeom>
          <a:noFill/>
        </p:spPr>
        <p:txBody>
          <a:bodyPr wrap="square">
            <a:spAutoFit/>
          </a:bodyPr>
          <a:lstStyle/>
          <a:p>
            <a:r>
              <a:rPr lang="en-US" sz="1300" dirty="0"/>
              <a:t>Land-use Land-cover</a:t>
            </a:r>
          </a:p>
        </p:txBody>
      </p:sp>
      <p:sp>
        <p:nvSpPr>
          <p:cNvPr id="14" name="TextBox 13">
            <a:extLst>
              <a:ext uri="{FF2B5EF4-FFF2-40B4-BE49-F238E27FC236}">
                <a16:creationId xmlns:a16="http://schemas.microsoft.com/office/drawing/2014/main" id="{65F611F2-25AA-02ED-FAF6-CC98B87630FB}"/>
              </a:ext>
            </a:extLst>
          </p:cNvPr>
          <p:cNvSpPr txBox="1"/>
          <p:nvPr/>
        </p:nvSpPr>
        <p:spPr>
          <a:xfrm rot="16200000">
            <a:off x="4632852" y="2427450"/>
            <a:ext cx="1254332" cy="292388"/>
          </a:xfrm>
          <a:prstGeom prst="rect">
            <a:avLst/>
          </a:prstGeom>
          <a:noFill/>
        </p:spPr>
        <p:txBody>
          <a:bodyPr wrap="square">
            <a:spAutoFit/>
          </a:bodyPr>
          <a:lstStyle/>
          <a:p>
            <a:r>
              <a:rPr lang="en-US" sz="1300" dirty="0"/>
              <a:t>Parking space</a:t>
            </a:r>
          </a:p>
        </p:txBody>
      </p:sp>
      <p:pic>
        <p:nvPicPr>
          <p:cNvPr id="41" name="Picture 40" descr="A map of a path&#10;&#10;AI-generated content may be incorrect.">
            <a:extLst>
              <a:ext uri="{FF2B5EF4-FFF2-40B4-BE49-F238E27FC236}">
                <a16:creationId xmlns:a16="http://schemas.microsoft.com/office/drawing/2014/main" id="{A2E32FCA-0832-0B89-9FF6-D22BC26A4043}"/>
              </a:ext>
            </a:extLst>
          </p:cNvPr>
          <p:cNvPicPr>
            <a:picLocks noChangeAspect="1"/>
          </p:cNvPicPr>
          <p:nvPr/>
        </p:nvPicPr>
        <p:blipFill>
          <a:blip r:embed="rId9" cstate="hqprint">
            <a:extLst>
              <a:ext uri="{BEBA8EAE-BF5A-486C-A8C5-ECC9F3942E4B}">
                <a14:imgProps xmlns:a14="http://schemas.microsoft.com/office/drawing/2010/main">
                  <a14:imgLayer r:embed="rId10">
                    <a14:imgEffect>
                      <a14:colorTemperature colorTemp="5900"/>
                    </a14:imgEffect>
                    <a14:imgEffect>
                      <a14:brightnessContrast contrast="20000"/>
                    </a14:imgEffect>
                  </a14:imgLayer>
                </a14:imgProps>
              </a:ext>
              <a:ext uri="{28A0092B-C50C-407E-A947-70E740481C1C}">
                <a14:useLocalDpi xmlns:a14="http://schemas.microsoft.com/office/drawing/2010/main"/>
              </a:ext>
            </a:extLst>
          </a:blip>
          <a:srcRect l="11263" t="5267" r="3780" b="16315"/>
          <a:stretch/>
        </p:blipFill>
        <p:spPr>
          <a:xfrm>
            <a:off x="9875114" y="2211306"/>
            <a:ext cx="1812490" cy="1711646"/>
          </a:xfrm>
          <a:prstGeom prst="rect">
            <a:avLst/>
          </a:prstGeom>
        </p:spPr>
      </p:pic>
      <p:sp>
        <p:nvSpPr>
          <p:cNvPr id="18" name="TextBox 17">
            <a:extLst>
              <a:ext uri="{FF2B5EF4-FFF2-40B4-BE49-F238E27FC236}">
                <a16:creationId xmlns:a16="http://schemas.microsoft.com/office/drawing/2014/main" id="{D224E683-75EF-DAAF-AF27-A1243B0DE1A4}"/>
              </a:ext>
            </a:extLst>
          </p:cNvPr>
          <p:cNvSpPr txBox="1"/>
          <p:nvPr/>
        </p:nvSpPr>
        <p:spPr>
          <a:xfrm>
            <a:off x="9492297" y="5899580"/>
            <a:ext cx="2439719" cy="523220"/>
          </a:xfrm>
          <a:prstGeom prst="rect">
            <a:avLst/>
          </a:prstGeom>
          <a:noFill/>
        </p:spPr>
        <p:txBody>
          <a:bodyPr wrap="square">
            <a:spAutoFit/>
          </a:bodyPr>
          <a:lstStyle/>
          <a:p>
            <a:pPr algn="r"/>
            <a:r>
              <a:rPr lang="en-US" sz="1400" b="0" i="1" u="none" strike="noStrike" baseline="0" dirty="0" err="1">
                <a:solidFill>
                  <a:schemeClr val="tx1">
                    <a:lumMod val="50000"/>
                  </a:schemeClr>
                </a:solidFill>
                <a:latin typeface="CMR10"/>
              </a:rPr>
              <a:t>Spatio</a:t>
            </a:r>
            <a:r>
              <a:rPr lang="en-US" sz="1400" b="0" i="1" u="none" strike="noStrike" baseline="0" dirty="0">
                <a:solidFill>
                  <a:schemeClr val="tx1">
                    <a:lumMod val="50000"/>
                  </a:schemeClr>
                </a:solidFill>
                <a:latin typeface="CMR10"/>
              </a:rPr>
              <a:t> temporal charging demand aggregations</a:t>
            </a:r>
            <a:endParaRPr lang="en-SE" i="1" dirty="0">
              <a:solidFill>
                <a:schemeClr val="tx1">
                  <a:lumMod val="50000"/>
                </a:schemeClr>
              </a:solidFill>
            </a:endParaRPr>
          </a:p>
        </p:txBody>
      </p:sp>
    </p:spTree>
    <p:extLst>
      <p:ext uri="{BB962C8B-B14F-4D97-AF65-F5344CB8AC3E}">
        <p14:creationId xmlns:p14="http://schemas.microsoft.com/office/powerpoint/2010/main" val="251486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0-#ppt_w/2"/>
                                          </p:val>
                                        </p:tav>
                                        <p:tav tm="100000">
                                          <p:val>
                                            <p:strVal val="#ppt_x"/>
                                          </p:val>
                                        </p:tav>
                                      </p:tavLst>
                                    </p:anim>
                                    <p:anim calcmode="lin" valueType="num">
                                      <p:cBhvr additive="base">
                                        <p:cTn id="16" dur="500" fill="hold"/>
                                        <p:tgtEl>
                                          <p:spTgt spid="3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0-#ppt_w/2"/>
                                          </p:val>
                                        </p:tav>
                                        <p:tav tm="100000">
                                          <p:val>
                                            <p:strVal val="#ppt_x"/>
                                          </p:val>
                                        </p:tav>
                                      </p:tavLst>
                                    </p:anim>
                                    <p:anim calcmode="lin" valueType="num">
                                      <p:cBhvr additive="base">
                                        <p:cTn id="33" dur="500" fill="hold"/>
                                        <p:tgtEl>
                                          <p:spTgt spid="36"/>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0-#ppt_w/2"/>
                                          </p:val>
                                        </p:tav>
                                        <p:tav tm="100000">
                                          <p:val>
                                            <p:strVal val="#ppt_x"/>
                                          </p:val>
                                        </p:tav>
                                      </p:tavLst>
                                    </p:anim>
                                    <p:anim calcmode="lin" valueType="num">
                                      <p:cBhvr additive="base">
                                        <p:cTn id="37" dur="500" fill="hold"/>
                                        <p:tgtEl>
                                          <p:spTgt spid="6"/>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0-#ppt_w/2"/>
                                          </p:val>
                                        </p:tav>
                                        <p:tav tm="100000">
                                          <p:val>
                                            <p:strVal val="#ppt_x"/>
                                          </p:val>
                                        </p:tav>
                                      </p:tavLst>
                                    </p:anim>
                                    <p:anim calcmode="lin" valueType="num">
                                      <p:cBhvr additive="base">
                                        <p:cTn id="41" dur="500" fill="hold"/>
                                        <p:tgtEl>
                                          <p:spTgt spid="7"/>
                                        </p:tgtEl>
                                        <p:attrNameLst>
                                          <p:attrName>ppt_y</p:attrName>
                                        </p:attrNameLst>
                                      </p:cBhvr>
                                      <p:tavLst>
                                        <p:tav tm="0">
                                          <p:val>
                                            <p:strVal val="#ppt_y"/>
                                          </p:val>
                                        </p:tav>
                                        <p:tav tm="100000">
                                          <p:val>
                                            <p:strVal val="#ppt_y"/>
                                          </p:val>
                                        </p:tav>
                                      </p:tavLst>
                                    </p:anim>
                                  </p:childTnLst>
                                </p:cTn>
                              </p:par>
                              <p:par>
                                <p:cTn id="42" presetID="2" presetClass="entr" presetSubtype="8"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0-#ppt_w/2"/>
                                          </p:val>
                                        </p:tav>
                                        <p:tav tm="100000">
                                          <p:val>
                                            <p:strVal val="#ppt_x"/>
                                          </p:val>
                                        </p:tav>
                                      </p:tavLst>
                                    </p:anim>
                                    <p:anim calcmode="lin" valueType="num">
                                      <p:cBhvr additive="base">
                                        <p:cTn id="45"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6" grpId="0"/>
      <p:bldP spid="38" grpId="0"/>
      <p:bldP spid="6" grpId="0"/>
      <p:bldP spid="7"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0C6B3-4981-FE46-32FE-88F89B1DB373}"/>
              </a:ext>
            </a:extLst>
          </p:cNvPr>
          <p:cNvSpPr>
            <a:spLocks noGrp="1"/>
          </p:cNvSpPr>
          <p:nvPr>
            <p:ph type="title"/>
          </p:nvPr>
        </p:nvSpPr>
        <p:spPr>
          <a:xfrm>
            <a:off x="476250" y="222250"/>
            <a:ext cx="10515600" cy="1325563"/>
          </a:xfrm>
        </p:spPr>
        <p:txBody>
          <a:bodyPr/>
          <a:lstStyle/>
          <a:p>
            <a:r>
              <a:rPr lang="en-US" dirty="0"/>
              <a:t>PV panels </a:t>
            </a:r>
            <a:r>
              <a:rPr lang="en-US" sz="2000" dirty="0"/>
              <a:t>PVGIS: </a:t>
            </a:r>
            <a:r>
              <a:rPr lang="en-US" sz="2000" i="1" dirty="0"/>
              <a:t>nominal power includes/considers efficiency</a:t>
            </a:r>
            <a:endParaRPr lang="en-SE" sz="2000" dirty="0"/>
          </a:p>
        </p:txBody>
      </p:sp>
      <p:sp>
        <p:nvSpPr>
          <p:cNvPr id="3" name="Content Placeholder 2">
            <a:extLst>
              <a:ext uri="{FF2B5EF4-FFF2-40B4-BE49-F238E27FC236}">
                <a16:creationId xmlns:a16="http://schemas.microsoft.com/office/drawing/2014/main" id="{97CBC552-AF3D-1422-2477-A036EA0A70C5}"/>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02C2027B-43AF-C99D-89F4-16E6DAD90AF5}"/>
              </a:ext>
            </a:extLst>
          </p:cNvPr>
          <p:cNvPicPr>
            <a:picLocks noChangeAspect="1"/>
          </p:cNvPicPr>
          <p:nvPr/>
        </p:nvPicPr>
        <p:blipFill>
          <a:blip r:embed="rId2"/>
          <a:stretch>
            <a:fillRect/>
          </a:stretch>
        </p:blipFill>
        <p:spPr>
          <a:xfrm>
            <a:off x="0" y="1454940"/>
            <a:ext cx="12192000" cy="5403060"/>
          </a:xfrm>
          <a:prstGeom prst="rect">
            <a:avLst/>
          </a:prstGeom>
        </p:spPr>
      </p:pic>
    </p:spTree>
    <p:extLst>
      <p:ext uri="{BB962C8B-B14F-4D97-AF65-F5344CB8AC3E}">
        <p14:creationId xmlns:p14="http://schemas.microsoft.com/office/powerpoint/2010/main" val="1717506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AD94-23CC-E51D-E067-AD06CAC0F0A3}"/>
              </a:ext>
            </a:extLst>
          </p:cNvPr>
          <p:cNvSpPr>
            <a:spLocks noGrp="1"/>
          </p:cNvSpPr>
          <p:nvPr>
            <p:ph type="title"/>
          </p:nvPr>
        </p:nvSpPr>
        <p:spPr>
          <a:xfrm>
            <a:off x="838200" y="-9779"/>
            <a:ext cx="10515600" cy="1325563"/>
          </a:xfrm>
        </p:spPr>
        <p:txBody>
          <a:bodyPr/>
          <a:lstStyle/>
          <a:p>
            <a:r>
              <a:rPr lang="en-US" dirty="0"/>
              <a:t>PV panels (on site)</a:t>
            </a:r>
            <a:endParaRPr lang="en-SE" dirty="0"/>
          </a:p>
        </p:txBody>
      </p:sp>
      <p:sp>
        <p:nvSpPr>
          <p:cNvPr id="3" name="Content Placeholder 2">
            <a:extLst>
              <a:ext uri="{FF2B5EF4-FFF2-40B4-BE49-F238E27FC236}">
                <a16:creationId xmlns:a16="http://schemas.microsoft.com/office/drawing/2014/main" id="{F5EE70D0-E1AA-6518-E814-1EEF5EED099B}"/>
              </a:ext>
            </a:extLst>
          </p:cNvPr>
          <p:cNvSpPr>
            <a:spLocks noGrp="1"/>
          </p:cNvSpPr>
          <p:nvPr>
            <p:ph idx="1"/>
          </p:nvPr>
        </p:nvSpPr>
        <p:spPr>
          <a:xfrm>
            <a:off x="838200" y="1450721"/>
            <a:ext cx="5544312" cy="1215834"/>
          </a:xfrm>
        </p:spPr>
        <p:txBody>
          <a:bodyPr>
            <a:normAutofit/>
          </a:bodyPr>
          <a:lstStyle/>
          <a:p>
            <a:pPr marL="0" indent="0">
              <a:lnSpc>
                <a:spcPct val="110000"/>
              </a:lnSpc>
              <a:buNone/>
            </a:pPr>
            <a:r>
              <a:rPr lang="en-US" dirty="0"/>
              <a:t>Source: </a:t>
            </a:r>
            <a:r>
              <a:rPr lang="en-US" sz="1800" dirty="0">
                <a:hlinkClick r:id="rId2"/>
              </a:rPr>
              <a:t>https://jinkosolar.eu/wp-content/uploads/2024/10/JKM475-500N-60HL4-V-F8-EU.pdf</a:t>
            </a:r>
            <a:endParaRPr lang="en-US" sz="1800" dirty="0"/>
          </a:p>
          <a:p>
            <a:endParaRPr lang="en-US" sz="1800" dirty="0"/>
          </a:p>
        </p:txBody>
      </p:sp>
      <p:graphicFrame>
        <p:nvGraphicFramePr>
          <p:cNvPr id="4" name="Table 3">
            <a:extLst>
              <a:ext uri="{FF2B5EF4-FFF2-40B4-BE49-F238E27FC236}">
                <a16:creationId xmlns:a16="http://schemas.microsoft.com/office/drawing/2014/main" id="{BBF74097-0FC0-E977-D0B8-6E19C91409B9}"/>
              </a:ext>
            </a:extLst>
          </p:cNvPr>
          <p:cNvGraphicFramePr>
            <a:graphicFrameLocks noGrp="1"/>
          </p:cNvGraphicFramePr>
          <p:nvPr>
            <p:extLst>
              <p:ext uri="{D42A27DB-BD31-4B8C-83A1-F6EECF244321}">
                <p14:modId xmlns:p14="http://schemas.microsoft.com/office/powerpoint/2010/main" val="2979724415"/>
              </p:ext>
            </p:extLst>
          </p:nvPr>
        </p:nvGraphicFramePr>
        <p:xfrm>
          <a:off x="6686296" y="1240874"/>
          <a:ext cx="4064000" cy="1102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14390482"/>
                    </a:ext>
                  </a:extLst>
                </a:gridCol>
                <a:gridCol w="2032000">
                  <a:extLst>
                    <a:ext uri="{9D8B030D-6E8A-4147-A177-3AD203B41FA5}">
                      <a16:colId xmlns:a16="http://schemas.microsoft.com/office/drawing/2014/main" val="3376925541"/>
                    </a:ext>
                  </a:extLst>
                </a:gridCol>
              </a:tblGrid>
              <a:tr h="370840">
                <a:tc>
                  <a:txBody>
                    <a:bodyPr/>
                    <a:lstStyle/>
                    <a:p>
                      <a:r>
                        <a:rPr lang="en-US" dirty="0"/>
                        <a:t>Capacity</a:t>
                      </a:r>
                      <a:endParaRPr lang="en-SE" dirty="0"/>
                    </a:p>
                  </a:txBody>
                  <a:tcPr/>
                </a:tc>
                <a:tc>
                  <a:txBody>
                    <a:bodyPr/>
                    <a:lstStyle/>
                    <a:p>
                      <a:r>
                        <a:rPr lang="en-US" dirty="0"/>
                        <a:t>Area install</a:t>
                      </a:r>
                      <a:endParaRPr lang="en-SE" dirty="0"/>
                    </a:p>
                  </a:txBody>
                  <a:tcPr/>
                </a:tc>
                <a:extLst>
                  <a:ext uri="{0D108BD9-81ED-4DB2-BD59-A6C34878D82A}">
                    <a16:rowId xmlns:a16="http://schemas.microsoft.com/office/drawing/2014/main" val="1294227444"/>
                  </a:ext>
                </a:extLst>
              </a:tr>
              <a:tr h="0">
                <a:tc>
                  <a:txBody>
                    <a:bodyPr/>
                    <a:lstStyle/>
                    <a:p>
                      <a:r>
                        <a:rPr lang="en-US" dirty="0"/>
                        <a:t>500 W</a:t>
                      </a:r>
                      <a:endParaRPr lang="en-SE" dirty="0"/>
                    </a:p>
                  </a:txBody>
                  <a:tcPr/>
                </a:tc>
                <a:tc>
                  <a:txBody>
                    <a:bodyPr/>
                    <a:lstStyle/>
                    <a:p>
                      <a:r>
                        <a:rPr lang="en-US" dirty="0"/>
                        <a:t>2.16 sqm</a:t>
                      </a:r>
                      <a:endParaRPr lang="en-SE" dirty="0"/>
                    </a:p>
                  </a:txBody>
                  <a:tcPr/>
                </a:tc>
                <a:extLst>
                  <a:ext uri="{0D108BD9-81ED-4DB2-BD59-A6C34878D82A}">
                    <a16:rowId xmlns:a16="http://schemas.microsoft.com/office/drawing/2014/main" val="2339841034"/>
                  </a:ext>
                </a:extLst>
              </a:tr>
              <a:tr h="320040">
                <a:tc>
                  <a:txBody>
                    <a:bodyPr/>
                    <a:lstStyle/>
                    <a:p>
                      <a:r>
                        <a:rPr lang="en-US" dirty="0"/>
                        <a:t>450 W</a:t>
                      </a:r>
                      <a:endParaRPr lang="en-SE" dirty="0"/>
                    </a:p>
                  </a:txBody>
                  <a:tcPr/>
                </a:tc>
                <a:tc>
                  <a:txBody>
                    <a:bodyPr/>
                    <a:lstStyle/>
                    <a:p>
                      <a:r>
                        <a:rPr lang="en-US" dirty="0"/>
                        <a:t>1.87 sqm</a:t>
                      </a:r>
                      <a:endParaRPr lang="en-SE" dirty="0"/>
                    </a:p>
                  </a:txBody>
                  <a:tcPr/>
                </a:tc>
                <a:extLst>
                  <a:ext uri="{0D108BD9-81ED-4DB2-BD59-A6C34878D82A}">
                    <a16:rowId xmlns:a16="http://schemas.microsoft.com/office/drawing/2014/main" val="660169591"/>
                  </a:ext>
                </a:extLst>
              </a:tr>
            </a:tbl>
          </a:graphicData>
        </a:graphic>
      </p:graphicFrame>
      <p:sp>
        <p:nvSpPr>
          <p:cNvPr id="5" name="Content Placeholder 2">
            <a:extLst>
              <a:ext uri="{FF2B5EF4-FFF2-40B4-BE49-F238E27FC236}">
                <a16:creationId xmlns:a16="http://schemas.microsoft.com/office/drawing/2014/main" id="{E009BA3F-1B5E-D5F5-1EBC-1C32C058AE12}"/>
              </a:ext>
            </a:extLst>
          </p:cNvPr>
          <p:cNvSpPr txBox="1">
            <a:spLocks/>
          </p:cNvSpPr>
          <p:nvPr/>
        </p:nvSpPr>
        <p:spPr>
          <a:xfrm>
            <a:off x="838200" y="2862391"/>
            <a:ext cx="10515600" cy="1215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IEA-PVPS Sweden 2024 : </a:t>
            </a:r>
            <a:r>
              <a:rPr lang="en-US" dirty="0">
                <a:hlinkClick r:id="rId3"/>
              </a:rPr>
              <a:t>National Survey Report of PV Power</a:t>
            </a:r>
            <a:endParaRPr lang="en-US" dirty="0"/>
          </a:p>
          <a:p>
            <a:r>
              <a:rPr lang="en-US" sz="1800" dirty="0"/>
              <a:t>Turnkey prices: </a:t>
            </a:r>
            <a:r>
              <a:rPr lang="en-US" sz="1800" b="1" dirty="0"/>
              <a:t>9.4 SEK/W</a:t>
            </a:r>
            <a:r>
              <a:rPr lang="en-US" sz="1800" dirty="0"/>
              <a:t> for 100–250 kW large commercial systems, and </a:t>
            </a:r>
            <a:r>
              <a:rPr lang="en-US" sz="1800" b="1" dirty="0"/>
              <a:t>12.1 SEK/W</a:t>
            </a:r>
            <a:r>
              <a:rPr lang="en-US" sz="1800" dirty="0"/>
              <a:t> for 10–100 kW small commercial systems.</a:t>
            </a:r>
          </a:p>
        </p:txBody>
      </p:sp>
      <p:sp>
        <p:nvSpPr>
          <p:cNvPr id="6" name="Content Placeholder 2">
            <a:extLst>
              <a:ext uri="{FF2B5EF4-FFF2-40B4-BE49-F238E27FC236}">
                <a16:creationId xmlns:a16="http://schemas.microsoft.com/office/drawing/2014/main" id="{CCEA3A9A-15C8-E809-93CC-77F3A1BCC7E9}"/>
              </a:ext>
            </a:extLst>
          </p:cNvPr>
          <p:cNvSpPr txBox="1">
            <a:spLocks/>
          </p:cNvSpPr>
          <p:nvPr/>
        </p:nvSpPr>
        <p:spPr>
          <a:xfrm>
            <a:off x="838200" y="4224528"/>
            <a:ext cx="10515600" cy="16276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Västerås</a:t>
            </a:r>
            <a:r>
              <a:rPr lang="en-US" dirty="0"/>
              <a:t>: </a:t>
            </a:r>
            <a:r>
              <a:rPr lang="en-US" dirty="0">
                <a:hlinkClick r:id="rId4"/>
              </a:rPr>
              <a:t>Potential analysis of roof-mounted solar PV in Sweden</a:t>
            </a:r>
            <a:endParaRPr lang="en-US" dirty="0"/>
          </a:p>
          <a:p>
            <a:pPr marL="0" indent="0">
              <a:buNone/>
            </a:pPr>
            <a:r>
              <a:rPr lang="en-US" sz="1800" dirty="0"/>
              <a:t>Models Swedish rooftop PV potential while considering roof orientation, shadows, obstacles, tilt angles, and inter-row distances. It reports 5.74 sq.km usable roof area in </a:t>
            </a:r>
            <a:r>
              <a:rPr lang="en-US" sz="1800" dirty="0" err="1"/>
              <a:t>Västerås</a:t>
            </a:r>
            <a:r>
              <a:rPr lang="en-US" sz="1800" dirty="0"/>
              <a:t> and potential capacities of 727, 848, and 956 MWp across roof scenarios.</a:t>
            </a:r>
          </a:p>
        </p:txBody>
      </p:sp>
      <p:sp>
        <p:nvSpPr>
          <p:cNvPr id="8" name="TextBox 7">
            <a:extLst>
              <a:ext uri="{FF2B5EF4-FFF2-40B4-BE49-F238E27FC236}">
                <a16:creationId xmlns:a16="http://schemas.microsoft.com/office/drawing/2014/main" id="{3EBA01CE-B69A-F3F6-7351-3B20E6A754F6}"/>
              </a:ext>
            </a:extLst>
          </p:cNvPr>
          <p:cNvSpPr txBox="1"/>
          <p:nvPr/>
        </p:nvSpPr>
        <p:spPr>
          <a:xfrm>
            <a:off x="838200" y="5705963"/>
            <a:ext cx="10107168" cy="646331"/>
          </a:xfrm>
          <a:prstGeom prst="rect">
            <a:avLst/>
          </a:prstGeom>
          <a:noFill/>
        </p:spPr>
        <p:txBody>
          <a:bodyPr wrap="square">
            <a:spAutoFit/>
          </a:bodyPr>
          <a:lstStyle/>
          <a:p>
            <a:r>
              <a:rPr lang="en-US" sz="1800" dirty="0"/>
              <a:t>PV O&amp;M </a:t>
            </a:r>
            <a:r>
              <a:rPr lang="en-US" sz="1800" dirty="0">
                <a:hlinkClick r:id="rId5"/>
              </a:rPr>
              <a:t>https://www.solenerginyheter.se/20250407/3992/batterilagring-vaxer-snabbt-i-svenska-hushall?page=%2C1</a:t>
            </a:r>
            <a:endParaRPr lang="en-US" sz="1800" dirty="0"/>
          </a:p>
        </p:txBody>
      </p:sp>
    </p:spTree>
    <p:extLst>
      <p:ext uri="{BB962C8B-B14F-4D97-AF65-F5344CB8AC3E}">
        <p14:creationId xmlns:p14="http://schemas.microsoft.com/office/powerpoint/2010/main" val="2736795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3">
            <a:extLst>
              <a:ext uri="{FF2B5EF4-FFF2-40B4-BE49-F238E27FC236}">
                <a16:creationId xmlns:a16="http://schemas.microsoft.com/office/drawing/2014/main" id="{4BA18657-3687-E756-FBCC-7A942FFC440B}"/>
              </a:ext>
            </a:extLst>
          </p:cNvPr>
          <p:cNvSpPr txBox="1">
            <a:spLocks/>
          </p:cNvSpPr>
          <p:nvPr/>
        </p:nvSpPr>
        <p:spPr>
          <a:xfrm>
            <a:off x="280812" y="202652"/>
            <a:ext cx="10957213" cy="763097"/>
          </a:xfrm>
          <a:prstGeom prst="rect">
            <a:avLst/>
          </a:prstGeom>
        </p:spPr>
        <p:txBody>
          <a:bodyPr>
            <a:normAutofit/>
          </a:bodyPr>
          <a:lstStyle>
            <a:lvl1pPr algn="l" defTabSz="914400" rtl="0" eaLnBrk="1" latinLnBrk="0" hangingPunct="1">
              <a:lnSpc>
                <a:spcPts val="3900"/>
              </a:lnSpc>
              <a:spcBef>
                <a:spcPct val="0"/>
              </a:spcBef>
              <a:buNone/>
              <a:defRPr sz="3600" b="1" kern="900" cap="all" spc="-150" baseline="0">
                <a:solidFill>
                  <a:schemeClr val="tx1"/>
                </a:solidFill>
                <a:latin typeface="+mj-lt"/>
                <a:ea typeface="+mj-ea"/>
                <a:cs typeface="+mj-cs"/>
              </a:defRPr>
            </a:lvl1pPr>
          </a:lstStyle>
          <a:p>
            <a:r>
              <a:rPr lang="sv-SE" sz="4267" cap="none" dirty="0">
                <a:solidFill>
                  <a:schemeClr val="tx1">
                    <a:lumMod val="50000"/>
                  </a:schemeClr>
                </a:solidFill>
              </a:rPr>
              <a:t>PV installation potential </a:t>
            </a:r>
            <a:r>
              <a:rPr lang="sv-SE" sz="4267" cap="none" dirty="0" err="1">
                <a:solidFill>
                  <a:schemeClr val="tx1">
                    <a:lumMod val="50000"/>
                  </a:schemeClr>
                </a:solidFill>
              </a:rPr>
              <a:t>bounded</a:t>
            </a:r>
            <a:endParaRPr lang="en-US" sz="4267" cap="none" dirty="0"/>
          </a:p>
        </p:txBody>
      </p:sp>
      <p:sp>
        <p:nvSpPr>
          <p:cNvPr id="5" name="TextBox 11">
            <a:extLst>
              <a:ext uri="{FF2B5EF4-FFF2-40B4-BE49-F238E27FC236}">
                <a16:creationId xmlns:a16="http://schemas.microsoft.com/office/drawing/2014/main" id="{A522FCA2-8A8E-28AB-DF41-48853E0D9DF4}"/>
              </a:ext>
            </a:extLst>
          </p:cNvPr>
          <p:cNvSpPr txBox="1"/>
          <p:nvPr/>
        </p:nvSpPr>
        <p:spPr>
          <a:xfrm>
            <a:off x="7623525" y="373178"/>
            <a:ext cx="4279022" cy="795539"/>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lnSpc>
                <a:spcPct val="150000"/>
              </a:lnSpc>
            </a:pPr>
            <a:r>
              <a:rPr lang="en-US" sz="1600" dirty="0"/>
              <a:t>Classification using supervised ML algorithms (Copernicus Sentinel Imagery)</a:t>
            </a:r>
            <a:endParaRPr lang="en-US" sz="1600" b="1" dirty="0"/>
          </a:p>
        </p:txBody>
      </p:sp>
      <p:cxnSp>
        <p:nvCxnSpPr>
          <p:cNvPr id="14" name="Straight Connector 13">
            <a:extLst>
              <a:ext uri="{FF2B5EF4-FFF2-40B4-BE49-F238E27FC236}">
                <a16:creationId xmlns:a16="http://schemas.microsoft.com/office/drawing/2014/main" id="{A46699D1-2278-EF42-7C6D-19D7BDE91E15}"/>
              </a:ext>
            </a:extLst>
          </p:cNvPr>
          <p:cNvCxnSpPr>
            <a:cxnSpLocks/>
          </p:cNvCxnSpPr>
          <p:nvPr/>
        </p:nvCxnSpPr>
        <p:spPr>
          <a:xfrm>
            <a:off x="0" y="836496"/>
            <a:ext cx="12192000" cy="0"/>
          </a:xfrm>
          <a:prstGeom prst="line">
            <a:avLst/>
          </a:prstGeom>
          <a:ln w="19050"/>
        </p:spPr>
        <p:style>
          <a:lnRef idx="2">
            <a:schemeClr val="accent1"/>
          </a:lnRef>
          <a:fillRef idx="0">
            <a:schemeClr val="accent1"/>
          </a:fillRef>
          <a:effectRef idx="1">
            <a:schemeClr val="accent1"/>
          </a:effectRef>
          <a:fontRef idx="minor">
            <a:schemeClr val="tx1"/>
          </a:fontRef>
        </p:style>
      </p:cxnSp>
      <p:pic>
        <p:nvPicPr>
          <p:cNvPr id="15" name="Content Placeholder 7">
            <a:extLst>
              <a:ext uri="{FF2B5EF4-FFF2-40B4-BE49-F238E27FC236}">
                <a16:creationId xmlns:a16="http://schemas.microsoft.com/office/drawing/2014/main" id="{27981D6B-67E7-1663-7FB9-0526AFD6700F}"/>
              </a:ext>
            </a:extLst>
          </p:cNvPr>
          <p:cNvPicPr>
            <a:picLocks noGrp="1"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Effect>
                      <a14:saturation sat="200000"/>
                    </a14:imgEffect>
                    <a14:imgEffect>
                      <a14:brightnessContrast contrast="20000"/>
                    </a14:imgEffect>
                  </a14:imgLayer>
                </a14:imgProps>
              </a:ext>
            </a:extLst>
          </a:blip>
          <a:stretch>
            <a:fillRect/>
          </a:stretch>
        </p:blipFill>
        <p:spPr>
          <a:xfrm>
            <a:off x="5092337" y="3373331"/>
            <a:ext cx="6924145" cy="3110592"/>
          </a:xfrm>
          <a:prstGeom prst="rect">
            <a:avLst/>
          </a:prstGeom>
          <a:ln>
            <a:noFill/>
          </a:ln>
          <a:effectLst>
            <a:softEdge rad="112500"/>
          </a:effectLst>
        </p:spPr>
      </p:pic>
      <p:pic>
        <p:nvPicPr>
          <p:cNvPr id="16" name="Picture 15" descr="A green and red chart with numbers&#10;&#10;AI-generated content may be incorrect.">
            <a:extLst>
              <a:ext uri="{FF2B5EF4-FFF2-40B4-BE49-F238E27FC236}">
                <a16:creationId xmlns:a16="http://schemas.microsoft.com/office/drawing/2014/main" id="{DC40E8D0-71A3-2780-939B-82E0A1F7DEAD}"/>
              </a:ext>
            </a:extLst>
          </p:cNvPr>
          <p:cNvPicPr>
            <a:picLocks noChangeAspect="1"/>
          </p:cNvPicPr>
          <p:nvPr/>
        </p:nvPicPr>
        <p:blipFill>
          <a:blip r:embed="rId4"/>
          <a:srcRect t="25920" r="58980" b="27920"/>
          <a:stretch/>
        </p:blipFill>
        <p:spPr>
          <a:xfrm>
            <a:off x="9442180" y="1251939"/>
            <a:ext cx="2333965" cy="1255289"/>
          </a:xfrm>
          <a:prstGeom prst="rect">
            <a:avLst/>
          </a:prstGeom>
        </p:spPr>
      </p:pic>
      <p:pic>
        <p:nvPicPr>
          <p:cNvPr id="17" name="Picture 16" descr="A green and red chart with numbers&#10;&#10;AI-generated content may be incorrect.">
            <a:extLst>
              <a:ext uri="{FF2B5EF4-FFF2-40B4-BE49-F238E27FC236}">
                <a16:creationId xmlns:a16="http://schemas.microsoft.com/office/drawing/2014/main" id="{508F09AF-1B83-AA00-F861-9DB70937C215}"/>
              </a:ext>
            </a:extLst>
          </p:cNvPr>
          <p:cNvPicPr>
            <a:picLocks noChangeAspect="1"/>
          </p:cNvPicPr>
          <p:nvPr/>
        </p:nvPicPr>
        <p:blipFill>
          <a:blip r:embed="rId4"/>
          <a:srcRect l="49931" t="21767" r="323" b="22972"/>
          <a:stretch/>
        </p:blipFill>
        <p:spPr>
          <a:xfrm>
            <a:off x="6968460" y="1256159"/>
            <a:ext cx="2400742" cy="1274655"/>
          </a:xfrm>
          <a:prstGeom prst="rect">
            <a:avLst/>
          </a:prstGeom>
        </p:spPr>
      </p:pic>
      <p:sp>
        <p:nvSpPr>
          <p:cNvPr id="18" name="TextBox 7">
            <a:extLst>
              <a:ext uri="{FF2B5EF4-FFF2-40B4-BE49-F238E27FC236}">
                <a16:creationId xmlns:a16="http://schemas.microsoft.com/office/drawing/2014/main" id="{0B210ABE-BFD1-D896-154D-8447C5CCD199}"/>
              </a:ext>
            </a:extLst>
          </p:cNvPr>
          <p:cNvSpPr txBox="1"/>
          <p:nvPr/>
        </p:nvSpPr>
        <p:spPr>
          <a:xfrm>
            <a:off x="5114893" y="2674614"/>
            <a:ext cx="6730520" cy="698717"/>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sv-SE" altLang="sv-SE" sz="1400" dirty="0">
                <a:solidFill>
                  <a:schemeClr val="tx1">
                    <a:lumMod val="50000"/>
                  </a:schemeClr>
                </a:solidFill>
                <a:latin typeface="+mj-lt"/>
              </a:rPr>
              <a:t>PV potential is </a:t>
            </a:r>
            <a:r>
              <a:rPr lang="sv-SE" altLang="sv-SE" sz="1400" dirty="0" err="1">
                <a:solidFill>
                  <a:schemeClr val="tx1">
                    <a:lumMod val="50000"/>
                  </a:schemeClr>
                </a:solidFill>
                <a:latin typeface="+mj-lt"/>
              </a:rPr>
              <a:t>assessed</a:t>
            </a:r>
            <a:r>
              <a:rPr lang="sv-SE" altLang="sv-SE" sz="1400" dirty="0">
                <a:solidFill>
                  <a:schemeClr val="tx1">
                    <a:lumMod val="50000"/>
                  </a:schemeClr>
                </a:solidFill>
                <a:latin typeface="+mj-lt"/>
              </a:rPr>
              <a:t> for land cover (</a:t>
            </a:r>
            <a:r>
              <a:rPr lang="sv-SE" altLang="sv-SE" sz="1400" dirty="0" err="1">
                <a:solidFill>
                  <a:schemeClr val="tx1">
                    <a:lumMod val="50000"/>
                  </a:schemeClr>
                </a:solidFill>
                <a:latin typeface="+mj-lt"/>
              </a:rPr>
              <a:t>buldings</a:t>
            </a:r>
            <a:r>
              <a:rPr lang="sv-SE" altLang="sv-SE" sz="1400" dirty="0">
                <a:solidFill>
                  <a:schemeClr val="tx1">
                    <a:lumMod val="50000"/>
                  </a:schemeClr>
                </a:solidFill>
                <a:latin typeface="+mj-lt"/>
              </a:rPr>
              <a:t>, </a:t>
            </a:r>
            <a:r>
              <a:rPr lang="sv-SE" altLang="sv-SE" sz="1400" dirty="0" err="1">
                <a:solidFill>
                  <a:schemeClr val="tx1">
                    <a:lumMod val="50000"/>
                  </a:schemeClr>
                </a:solidFill>
                <a:latin typeface="+mj-lt"/>
              </a:rPr>
              <a:t>tree</a:t>
            </a:r>
            <a:r>
              <a:rPr lang="sv-SE" altLang="sv-SE" sz="1400" dirty="0">
                <a:solidFill>
                  <a:schemeClr val="tx1">
                    <a:lumMod val="50000"/>
                  </a:schemeClr>
                </a:solidFill>
                <a:latin typeface="+mj-lt"/>
              </a:rPr>
              <a:t> cover, roads, </a:t>
            </a:r>
            <a:r>
              <a:rPr lang="sv-SE" altLang="sv-SE" sz="1400" dirty="0" err="1">
                <a:solidFill>
                  <a:schemeClr val="tx1">
                    <a:lumMod val="50000"/>
                  </a:schemeClr>
                </a:solidFill>
                <a:latin typeface="+mj-lt"/>
              </a:rPr>
              <a:t>water</a:t>
            </a:r>
            <a:r>
              <a:rPr lang="sv-SE" altLang="sv-SE" sz="1400" dirty="0">
                <a:solidFill>
                  <a:schemeClr val="tx1">
                    <a:lumMod val="50000"/>
                  </a:schemeClr>
                </a:solidFill>
                <a:latin typeface="+mj-lt"/>
              </a:rPr>
              <a:t>) and </a:t>
            </a:r>
            <a:r>
              <a:rPr lang="sv-SE" altLang="sv-SE" sz="1400" dirty="0" err="1">
                <a:solidFill>
                  <a:schemeClr val="tx1">
                    <a:lumMod val="50000"/>
                  </a:schemeClr>
                </a:solidFill>
                <a:latin typeface="+mj-lt"/>
              </a:rPr>
              <a:t>using</a:t>
            </a:r>
            <a:r>
              <a:rPr lang="sv-SE" altLang="sv-SE" sz="1400" dirty="0">
                <a:solidFill>
                  <a:schemeClr val="tx1">
                    <a:lumMod val="50000"/>
                  </a:schemeClr>
                </a:solidFill>
                <a:latin typeface="+mj-lt"/>
              </a:rPr>
              <a:t> Deep Learning </a:t>
            </a:r>
            <a:r>
              <a:rPr lang="sv-SE" altLang="sv-SE" sz="1400" dirty="0" err="1">
                <a:solidFill>
                  <a:schemeClr val="tx1">
                    <a:lumMod val="50000"/>
                  </a:schemeClr>
                </a:solidFill>
                <a:latin typeface="+mj-lt"/>
              </a:rPr>
              <a:t>algorithm</a:t>
            </a:r>
            <a:r>
              <a:rPr lang="sv-SE" altLang="sv-SE" sz="1400" dirty="0">
                <a:solidFill>
                  <a:schemeClr val="tx1">
                    <a:lumMod val="50000"/>
                  </a:schemeClr>
                </a:solidFill>
                <a:latin typeface="+mj-lt"/>
              </a:rPr>
              <a:t> (CNN) to </a:t>
            </a:r>
            <a:r>
              <a:rPr lang="sv-SE" altLang="sv-SE" sz="1400" dirty="0" err="1">
                <a:solidFill>
                  <a:schemeClr val="tx1">
                    <a:lumMod val="50000"/>
                  </a:schemeClr>
                </a:solidFill>
                <a:latin typeface="+mj-lt"/>
              </a:rPr>
              <a:t>derive</a:t>
            </a:r>
            <a:r>
              <a:rPr lang="sv-SE" altLang="sv-SE" sz="1400" dirty="0">
                <a:solidFill>
                  <a:schemeClr val="tx1">
                    <a:lumMod val="50000"/>
                  </a:schemeClr>
                </a:solidFill>
                <a:latin typeface="+mj-lt"/>
              </a:rPr>
              <a:t> </a:t>
            </a:r>
            <a:r>
              <a:rPr lang="sv-SE" altLang="sv-SE" sz="1400" dirty="0" err="1">
                <a:solidFill>
                  <a:schemeClr val="tx1">
                    <a:lumMod val="50000"/>
                  </a:schemeClr>
                </a:solidFill>
                <a:latin typeface="+mj-lt"/>
              </a:rPr>
              <a:t>parking</a:t>
            </a:r>
            <a:r>
              <a:rPr lang="sv-SE" altLang="sv-SE" sz="1400" dirty="0">
                <a:solidFill>
                  <a:schemeClr val="tx1">
                    <a:lumMod val="50000"/>
                  </a:schemeClr>
                </a:solidFill>
                <a:latin typeface="+mj-lt"/>
              </a:rPr>
              <a:t> areas for PV </a:t>
            </a:r>
            <a:r>
              <a:rPr lang="sv-SE" altLang="sv-SE" sz="1400" dirty="0" err="1">
                <a:solidFill>
                  <a:schemeClr val="tx1">
                    <a:lumMod val="50000"/>
                  </a:schemeClr>
                </a:solidFill>
                <a:latin typeface="+mj-lt"/>
              </a:rPr>
              <a:t>install</a:t>
            </a:r>
            <a:r>
              <a:rPr lang="sv-SE" altLang="sv-SE" sz="1400" dirty="0">
                <a:solidFill>
                  <a:schemeClr val="tx1">
                    <a:lumMod val="50000"/>
                  </a:schemeClr>
                </a:solidFill>
                <a:latin typeface="+mj-lt"/>
              </a:rPr>
              <a:t> sites.</a:t>
            </a:r>
            <a:endParaRPr lang="en-US" dirty="0"/>
          </a:p>
        </p:txBody>
      </p:sp>
      <p:pic>
        <p:nvPicPr>
          <p:cNvPr id="19" name="Picture 18">
            <a:extLst>
              <a:ext uri="{FF2B5EF4-FFF2-40B4-BE49-F238E27FC236}">
                <a16:creationId xmlns:a16="http://schemas.microsoft.com/office/drawing/2014/main" id="{08C3D7F2-1E5E-B8DF-9C27-C2AA1921C561}"/>
              </a:ext>
            </a:extLst>
          </p:cNvPr>
          <p:cNvPicPr>
            <a:picLocks noChangeAspect="1"/>
          </p:cNvPicPr>
          <p:nvPr/>
        </p:nvPicPr>
        <p:blipFill>
          <a:blip r:embed="rId5"/>
          <a:stretch>
            <a:fillRect/>
          </a:stretch>
        </p:blipFill>
        <p:spPr>
          <a:xfrm>
            <a:off x="625187" y="2530814"/>
            <a:ext cx="4467150" cy="4025009"/>
          </a:xfrm>
          <a:prstGeom prst="rect">
            <a:avLst/>
          </a:prstGeom>
        </p:spPr>
      </p:pic>
      <p:pic>
        <p:nvPicPr>
          <p:cNvPr id="20" name="Picture 19">
            <a:extLst>
              <a:ext uri="{FF2B5EF4-FFF2-40B4-BE49-F238E27FC236}">
                <a16:creationId xmlns:a16="http://schemas.microsoft.com/office/drawing/2014/main" id="{F78D1949-7E90-522D-2375-427FCB97567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129295" y="4736855"/>
            <a:ext cx="673428" cy="1547451"/>
          </a:xfrm>
          <a:prstGeom prst="rect">
            <a:avLst/>
          </a:prstGeom>
        </p:spPr>
      </p:pic>
      <p:pic>
        <p:nvPicPr>
          <p:cNvPr id="21" name="Picture 20">
            <a:extLst>
              <a:ext uri="{FF2B5EF4-FFF2-40B4-BE49-F238E27FC236}">
                <a16:creationId xmlns:a16="http://schemas.microsoft.com/office/drawing/2014/main" id="{CCAC30B2-8257-ABF4-AD74-59E6FB2EA954}"/>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263706" y="1063574"/>
            <a:ext cx="1505957" cy="1488287"/>
          </a:xfrm>
          <a:prstGeom prst="rect">
            <a:avLst/>
          </a:prstGeom>
        </p:spPr>
      </p:pic>
      <p:sp>
        <p:nvSpPr>
          <p:cNvPr id="23" name="TextBox 13">
            <a:extLst>
              <a:ext uri="{FF2B5EF4-FFF2-40B4-BE49-F238E27FC236}">
                <a16:creationId xmlns:a16="http://schemas.microsoft.com/office/drawing/2014/main" id="{08E00175-14D4-0555-2EF2-AC72353D9D90}"/>
              </a:ext>
            </a:extLst>
          </p:cNvPr>
          <p:cNvSpPr txBox="1"/>
          <p:nvPr/>
        </p:nvSpPr>
        <p:spPr>
          <a:xfrm>
            <a:off x="3593228" y="1053186"/>
            <a:ext cx="1582223" cy="1330557"/>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n-US" sz="1100" b="1" dirty="0"/>
              <a:t>Parking lots</a:t>
            </a:r>
          </a:p>
          <a:p>
            <a:pPr>
              <a:lnSpc>
                <a:spcPct val="150000"/>
              </a:lnSpc>
            </a:pPr>
            <a:r>
              <a:rPr lang="en-US" sz="1100" b="1" dirty="0"/>
              <a:t>Public Parking</a:t>
            </a:r>
          </a:p>
          <a:p>
            <a:pPr>
              <a:lnSpc>
                <a:spcPct val="150000"/>
              </a:lnSpc>
            </a:pPr>
            <a:r>
              <a:rPr lang="en-US" sz="1100" b="1" dirty="0"/>
              <a:t>Multistoried parking</a:t>
            </a:r>
          </a:p>
          <a:p>
            <a:pPr>
              <a:lnSpc>
                <a:spcPct val="150000"/>
              </a:lnSpc>
            </a:pPr>
            <a:r>
              <a:rPr lang="en-US" sz="1100" b="1" dirty="0"/>
              <a:t>EV charging stations</a:t>
            </a:r>
          </a:p>
          <a:p>
            <a:pPr>
              <a:lnSpc>
                <a:spcPct val="150000"/>
              </a:lnSpc>
            </a:pPr>
            <a:r>
              <a:rPr lang="en-US" sz="1100" b="1" dirty="0"/>
              <a:t>Open area parking</a:t>
            </a:r>
          </a:p>
        </p:txBody>
      </p:sp>
      <p:pic>
        <p:nvPicPr>
          <p:cNvPr id="24" name="Picture 23">
            <a:extLst>
              <a:ext uri="{FF2B5EF4-FFF2-40B4-BE49-F238E27FC236}">
                <a16:creationId xmlns:a16="http://schemas.microsoft.com/office/drawing/2014/main" id="{FFF34ECA-AF9C-CC30-8D17-4EE8271AB4D3}"/>
              </a:ext>
            </a:extLst>
          </p:cNvPr>
          <p:cNvPicPr>
            <a:picLocks noChangeAspect="1"/>
          </p:cNvPicPr>
          <p:nvPr/>
        </p:nvPicPr>
        <p:blipFill>
          <a:blip r:embed="rId10"/>
          <a:stretch>
            <a:fillRect/>
          </a:stretch>
        </p:blipFill>
        <p:spPr>
          <a:xfrm>
            <a:off x="925435" y="1039155"/>
            <a:ext cx="1148511" cy="1145987"/>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5" name="Picture 24">
            <a:extLst>
              <a:ext uri="{FF2B5EF4-FFF2-40B4-BE49-F238E27FC236}">
                <a16:creationId xmlns:a16="http://schemas.microsoft.com/office/drawing/2014/main" id="{61060ECF-715B-D7F8-B241-C8C6C7AC9EBD}"/>
              </a:ext>
            </a:extLst>
          </p:cNvPr>
          <p:cNvPicPr>
            <a:picLocks noChangeAspect="1"/>
          </p:cNvPicPr>
          <p:nvPr/>
        </p:nvPicPr>
        <p:blipFill>
          <a:blip r:embed="rId11"/>
          <a:stretch>
            <a:fillRect/>
          </a:stretch>
        </p:blipFill>
        <p:spPr>
          <a:xfrm>
            <a:off x="2321476" y="1084621"/>
            <a:ext cx="1148511" cy="1080782"/>
          </a:xfrm>
          <a:prstGeom prst="ellipse">
            <a:avLst/>
          </a:prstGeom>
          <a:ln w="63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TextBox 6">
            <a:extLst>
              <a:ext uri="{FF2B5EF4-FFF2-40B4-BE49-F238E27FC236}">
                <a16:creationId xmlns:a16="http://schemas.microsoft.com/office/drawing/2014/main" id="{B16C6602-9F25-26EE-CA6F-DCF973D6FF34}"/>
              </a:ext>
            </a:extLst>
          </p:cNvPr>
          <p:cNvSpPr txBox="1"/>
          <p:nvPr/>
        </p:nvSpPr>
        <p:spPr>
          <a:xfrm>
            <a:off x="290044" y="2190040"/>
            <a:ext cx="4628561" cy="307777"/>
          </a:xfrm>
          <a:prstGeom prst="rect">
            <a:avLst/>
          </a:prstGeom>
          <a:noFill/>
        </p:spPr>
        <p:txBody>
          <a:bodyPr wrap="square">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i="1" dirty="0"/>
              <a:t>Classified PV install areas:</a:t>
            </a:r>
            <a:endParaRPr lang="en-US" sz="1400" b="1" dirty="0"/>
          </a:p>
        </p:txBody>
      </p:sp>
    </p:spTree>
    <p:extLst>
      <p:ext uri="{BB962C8B-B14F-4D97-AF65-F5344CB8AC3E}">
        <p14:creationId xmlns:p14="http://schemas.microsoft.com/office/powerpoint/2010/main" val="178941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1142-0B3F-ADC8-B33F-6C6FFED92FD5}"/>
              </a:ext>
            </a:extLst>
          </p:cNvPr>
          <p:cNvSpPr>
            <a:spLocks noGrp="1"/>
          </p:cNvSpPr>
          <p:nvPr>
            <p:ph type="title"/>
          </p:nvPr>
        </p:nvSpPr>
        <p:spPr/>
        <p:txBody>
          <a:bodyPr/>
          <a:lstStyle/>
          <a:p>
            <a:r>
              <a:rPr lang="en-US" dirty="0"/>
              <a:t>Battery storage systems in Sweden (BESS)</a:t>
            </a:r>
            <a:endParaRPr lang="en-SE" dirty="0"/>
          </a:p>
        </p:txBody>
      </p:sp>
      <p:sp>
        <p:nvSpPr>
          <p:cNvPr id="3" name="Content Placeholder 2">
            <a:extLst>
              <a:ext uri="{FF2B5EF4-FFF2-40B4-BE49-F238E27FC236}">
                <a16:creationId xmlns:a16="http://schemas.microsoft.com/office/drawing/2014/main" id="{04D1BA10-7011-718D-E100-26442F328707}"/>
              </a:ext>
            </a:extLst>
          </p:cNvPr>
          <p:cNvSpPr>
            <a:spLocks noGrp="1"/>
          </p:cNvSpPr>
          <p:nvPr>
            <p:ph idx="1"/>
          </p:nvPr>
        </p:nvSpPr>
        <p:spPr>
          <a:xfrm>
            <a:off x="838200" y="1619250"/>
            <a:ext cx="10515600" cy="4972050"/>
          </a:xfrm>
        </p:spPr>
        <p:txBody>
          <a:bodyPr>
            <a:normAutofit/>
          </a:bodyPr>
          <a:lstStyle/>
          <a:p>
            <a:pPr>
              <a:lnSpc>
                <a:spcPct val="100000"/>
              </a:lnSpc>
              <a:spcAft>
                <a:spcPts val="1200"/>
              </a:spcAft>
            </a:pPr>
            <a:r>
              <a:rPr lang="en-US" sz="2000" dirty="0"/>
              <a:t>2018: MSc thesis at Svenska </a:t>
            </a:r>
            <a:r>
              <a:rPr lang="en-US" sz="2000" dirty="0" err="1"/>
              <a:t>kraftnät</a:t>
            </a:r>
            <a:r>
              <a:rPr lang="en-US" sz="2000" dirty="0"/>
              <a:t> reports BESS installation costs in the range of </a:t>
            </a:r>
            <a:r>
              <a:rPr lang="en-US" sz="2000" b="1" dirty="0"/>
              <a:t>2240–6250 SEK/kWh</a:t>
            </a:r>
            <a:r>
              <a:rPr lang="en-US" sz="2000" dirty="0"/>
              <a:t>, with a central value of approximately 3400 SEK/kWh (</a:t>
            </a:r>
            <a:r>
              <a:rPr lang="en-US" sz="2000" dirty="0">
                <a:hlinkClick r:id="rId2"/>
              </a:rPr>
              <a:t>thesis</a:t>
            </a:r>
            <a:r>
              <a:rPr lang="en-US" sz="2000" dirty="0"/>
              <a:t>)</a:t>
            </a:r>
          </a:p>
          <a:p>
            <a:pPr>
              <a:lnSpc>
                <a:spcPct val="100000"/>
              </a:lnSpc>
              <a:spcAft>
                <a:spcPts val="1200"/>
              </a:spcAft>
            </a:pPr>
            <a:r>
              <a:rPr lang="en-US" sz="2000" dirty="0"/>
              <a:t>2023: Guidelines to implement BESS by world bank (</a:t>
            </a:r>
            <a:r>
              <a:rPr lang="en-US" sz="2000" dirty="0">
                <a:hlinkClick r:id="rId3"/>
              </a:rPr>
              <a:t>report</a:t>
            </a:r>
            <a:r>
              <a:rPr lang="en-US" sz="2000" dirty="0"/>
              <a:t>)</a:t>
            </a:r>
          </a:p>
          <a:p>
            <a:pPr>
              <a:lnSpc>
                <a:spcPct val="100000"/>
              </a:lnSpc>
              <a:spcAft>
                <a:spcPts val="1200"/>
              </a:spcAft>
            </a:pPr>
            <a:r>
              <a:rPr lang="en-US" sz="2000" dirty="0"/>
              <a:t>2024: Swedish Solar Energy Association estimates of </a:t>
            </a:r>
            <a:r>
              <a:rPr lang="en-US" sz="2000" b="1" dirty="0"/>
              <a:t>650–800 MW </a:t>
            </a:r>
            <a:r>
              <a:rPr lang="en-US" sz="2000" dirty="0"/>
              <a:t>decentralized BESS installed and more than </a:t>
            </a:r>
            <a:r>
              <a:rPr lang="en-US" sz="2000" b="1" dirty="0"/>
              <a:t>1 GW </a:t>
            </a:r>
            <a:r>
              <a:rPr lang="en-US" sz="2000" dirty="0"/>
              <a:t>cumulative decentralized BESS (</a:t>
            </a:r>
            <a:r>
              <a:rPr lang="en-US" sz="2000" dirty="0">
                <a:hlinkClick r:id="rId4"/>
              </a:rPr>
              <a:t>IEA-PVPS</a:t>
            </a:r>
            <a:r>
              <a:rPr lang="en-US" sz="2000" dirty="0"/>
              <a:t>)</a:t>
            </a:r>
          </a:p>
          <a:p>
            <a:pPr>
              <a:lnSpc>
                <a:spcPct val="100000"/>
              </a:lnSpc>
              <a:spcAft>
                <a:spcPts val="1200"/>
              </a:spcAft>
            </a:pPr>
            <a:r>
              <a:rPr lang="en-US" sz="2000" dirty="0"/>
              <a:t>2025: BW ESS and Ingrid Capacity - a </a:t>
            </a:r>
            <a:r>
              <a:rPr lang="en-US" sz="2000" b="1" dirty="0"/>
              <a:t>211 MW / 211 MWh </a:t>
            </a:r>
            <a:r>
              <a:rPr lang="en-US" sz="2000" dirty="0"/>
              <a:t>portfolio of 14 operational BESS projects in Sweden (news </a:t>
            </a:r>
            <a:r>
              <a:rPr lang="en-US" sz="2000" dirty="0">
                <a:hlinkClick r:id="rId5"/>
              </a:rPr>
              <a:t>blog</a:t>
            </a:r>
            <a:r>
              <a:rPr lang="en-US" sz="2000" dirty="0"/>
              <a:t>), </a:t>
            </a:r>
            <a:r>
              <a:rPr lang="en-US" sz="2000" b="1" dirty="0"/>
              <a:t>20 MW BESS in </a:t>
            </a:r>
            <a:r>
              <a:rPr lang="en-US" sz="2000" b="1" dirty="0" err="1"/>
              <a:t>Värnamo</a:t>
            </a:r>
            <a:r>
              <a:rPr lang="en-US" sz="2000" dirty="0"/>
              <a:t> to support grid balancing and resilience in southern Sweden (</a:t>
            </a:r>
            <a:r>
              <a:rPr lang="en-US" sz="2000" dirty="0">
                <a:hlinkClick r:id="rId6"/>
              </a:rPr>
              <a:t>project</a:t>
            </a:r>
            <a:r>
              <a:rPr lang="en-US" sz="2000" dirty="0"/>
              <a:t>)</a:t>
            </a:r>
          </a:p>
          <a:p>
            <a:pPr>
              <a:lnSpc>
                <a:spcPct val="100000"/>
              </a:lnSpc>
              <a:spcAft>
                <a:spcPts val="1200"/>
              </a:spcAft>
            </a:pPr>
            <a:r>
              <a:rPr lang="en-US" sz="2000" dirty="0"/>
              <a:t>2025: </a:t>
            </a:r>
            <a:r>
              <a:rPr lang="en-US" sz="2000" dirty="0" err="1"/>
              <a:t>BloombergNEF</a:t>
            </a:r>
            <a:r>
              <a:rPr lang="en-US" sz="2000" dirty="0"/>
              <a:t> reported that global average turnkey energy storage system prices fell by about 40% in 2024 to </a:t>
            </a:r>
            <a:r>
              <a:rPr lang="en-US" sz="2000" b="1" dirty="0"/>
              <a:t>USD 165/kWh </a:t>
            </a:r>
            <a:r>
              <a:rPr lang="en-US" sz="2000" dirty="0"/>
              <a:t>(news </a:t>
            </a:r>
            <a:r>
              <a:rPr lang="en-US" sz="2000" dirty="0">
                <a:hlinkClick r:id="rId7"/>
              </a:rPr>
              <a:t>blog</a:t>
            </a:r>
            <a:r>
              <a:rPr lang="en-US" sz="2000" dirty="0"/>
              <a:t>). </a:t>
            </a:r>
            <a:r>
              <a:rPr lang="en-US" sz="2000" b="1" dirty="0"/>
              <a:t>Swedish</a:t>
            </a:r>
            <a:r>
              <a:rPr lang="en-US" sz="2000" dirty="0"/>
              <a:t> market estimate (</a:t>
            </a:r>
            <a:r>
              <a:rPr lang="en-US" sz="2000" dirty="0" err="1"/>
              <a:t>Rebaba</a:t>
            </a:r>
            <a:r>
              <a:rPr lang="en-US" sz="2000" dirty="0"/>
              <a:t> </a:t>
            </a:r>
            <a:r>
              <a:rPr lang="en-US" sz="2000" dirty="0">
                <a:hlinkClick r:id="rId8"/>
              </a:rPr>
              <a:t>blog</a:t>
            </a:r>
            <a:r>
              <a:rPr lang="en-US" sz="2000" dirty="0"/>
              <a:t>) gives a Europe oriented BESS cost range of </a:t>
            </a:r>
            <a:r>
              <a:rPr lang="en-US" sz="2000" b="1" dirty="0"/>
              <a:t>3500 - 7000 SEK/kWh </a:t>
            </a:r>
            <a:r>
              <a:rPr lang="en-US" sz="2000" dirty="0"/>
              <a:t>usable capacity.</a:t>
            </a:r>
            <a:endParaRPr lang="en-SE" sz="2000" dirty="0"/>
          </a:p>
        </p:txBody>
      </p:sp>
    </p:spTree>
    <p:extLst>
      <p:ext uri="{BB962C8B-B14F-4D97-AF65-F5344CB8AC3E}">
        <p14:creationId xmlns:p14="http://schemas.microsoft.com/office/powerpoint/2010/main" val="1995803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9438-6FC5-09F1-A867-25D2F9E660B2}"/>
              </a:ext>
            </a:extLst>
          </p:cNvPr>
          <p:cNvSpPr>
            <a:spLocks noGrp="1"/>
          </p:cNvSpPr>
          <p:nvPr>
            <p:ph type="title"/>
          </p:nvPr>
        </p:nvSpPr>
        <p:spPr>
          <a:xfrm>
            <a:off x="600075" y="103187"/>
            <a:ext cx="10515600" cy="1325563"/>
          </a:xfrm>
        </p:spPr>
        <p:txBody>
          <a:bodyPr/>
          <a:lstStyle/>
          <a:p>
            <a:r>
              <a:rPr lang="en-US" dirty="0"/>
              <a:t>BESS turnkey cost structure</a:t>
            </a:r>
            <a:endParaRPr lang="en-SE" dirty="0"/>
          </a:p>
        </p:txBody>
      </p:sp>
      <p:sp>
        <p:nvSpPr>
          <p:cNvPr id="3" name="Content Placeholder 2">
            <a:extLst>
              <a:ext uri="{FF2B5EF4-FFF2-40B4-BE49-F238E27FC236}">
                <a16:creationId xmlns:a16="http://schemas.microsoft.com/office/drawing/2014/main" id="{30F13E91-791A-829C-646F-4A0FDF2D85CC}"/>
              </a:ext>
            </a:extLst>
          </p:cNvPr>
          <p:cNvSpPr>
            <a:spLocks noGrp="1"/>
          </p:cNvSpPr>
          <p:nvPr>
            <p:ph idx="1"/>
          </p:nvPr>
        </p:nvSpPr>
        <p:spPr>
          <a:xfrm>
            <a:off x="738187" y="1333500"/>
            <a:ext cx="10377489" cy="1325563"/>
          </a:xfrm>
        </p:spPr>
        <p:txBody>
          <a:bodyPr>
            <a:normAutofit/>
          </a:bodyPr>
          <a:lstStyle/>
          <a:p>
            <a:pPr algn="just">
              <a:lnSpc>
                <a:spcPct val="100000"/>
              </a:lnSpc>
            </a:pPr>
            <a:r>
              <a:rPr lang="en-US" sz="2000" dirty="0"/>
              <a:t>BESS cost structure should include 40% batteries/racks/cables, 25% power conversion system, 20% enclosure/HVAC/control/fire suppression, and 15% assembly, shipping, installation, testing and commissioning. – battery cost alone, not enough for modeling (US case studies- </a:t>
            </a:r>
            <a:r>
              <a:rPr lang="en-US" sz="2000" dirty="0">
                <a:hlinkClick r:id="rId2"/>
              </a:rPr>
              <a:t>IRENA</a:t>
            </a:r>
            <a:r>
              <a:rPr lang="en-US" sz="2000" dirty="0"/>
              <a:t>)</a:t>
            </a:r>
          </a:p>
          <a:p>
            <a:pPr algn="just">
              <a:lnSpc>
                <a:spcPct val="100000"/>
              </a:lnSpc>
            </a:pPr>
            <a:endParaRPr lang="en-SE" sz="2000" dirty="0"/>
          </a:p>
        </p:txBody>
      </p:sp>
      <p:graphicFrame>
        <p:nvGraphicFramePr>
          <p:cNvPr id="4" name="Table 3">
            <a:extLst>
              <a:ext uri="{FF2B5EF4-FFF2-40B4-BE49-F238E27FC236}">
                <a16:creationId xmlns:a16="http://schemas.microsoft.com/office/drawing/2014/main" id="{FFEFFDA3-BF08-C11A-A42D-1C99ACC82A41}"/>
              </a:ext>
            </a:extLst>
          </p:cNvPr>
          <p:cNvGraphicFramePr>
            <a:graphicFrameLocks noGrp="1"/>
          </p:cNvGraphicFramePr>
          <p:nvPr>
            <p:extLst>
              <p:ext uri="{D42A27DB-BD31-4B8C-83A1-F6EECF244321}">
                <p14:modId xmlns:p14="http://schemas.microsoft.com/office/powerpoint/2010/main" val="1222427927"/>
              </p:ext>
            </p:extLst>
          </p:nvPr>
        </p:nvGraphicFramePr>
        <p:xfrm>
          <a:off x="3714749" y="2745423"/>
          <a:ext cx="4981576" cy="2834640"/>
        </p:xfrm>
        <a:graphic>
          <a:graphicData uri="http://schemas.openxmlformats.org/drawingml/2006/table">
            <a:tbl>
              <a:tblPr/>
              <a:tblGrid>
                <a:gridCol w="3381376">
                  <a:extLst>
                    <a:ext uri="{9D8B030D-6E8A-4147-A177-3AD203B41FA5}">
                      <a16:colId xmlns:a16="http://schemas.microsoft.com/office/drawing/2014/main" val="3323122659"/>
                    </a:ext>
                  </a:extLst>
                </a:gridCol>
                <a:gridCol w="1600200">
                  <a:extLst>
                    <a:ext uri="{9D8B030D-6E8A-4147-A177-3AD203B41FA5}">
                      <a16:colId xmlns:a16="http://schemas.microsoft.com/office/drawing/2014/main" val="2981101036"/>
                    </a:ext>
                  </a:extLst>
                </a:gridCol>
              </a:tblGrid>
              <a:tr h="0">
                <a:tc>
                  <a:txBody>
                    <a:bodyPr/>
                    <a:lstStyle/>
                    <a:p>
                      <a:pPr>
                        <a:buNone/>
                      </a:pPr>
                      <a:r>
                        <a:rPr lang="en-US" dirty="0"/>
                        <a:t>BESS unit capacity</a:t>
                      </a:r>
                    </a:p>
                  </a:txBody>
                  <a:tcPr anchor="ctr">
                    <a:lnL>
                      <a:noFill/>
                    </a:lnL>
                    <a:lnR>
                      <a:noFill/>
                    </a:lnR>
                    <a:lnT>
                      <a:noFill/>
                    </a:lnT>
                    <a:lnB>
                      <a:noFill/>
                    </a:lnB>
                    <a:noFill/>
                  </a:tcPr>
                </a:tc>
                <a:tc>
                  <a:txBody>
                    <a:bodyPr/>
                    <a:lstStyle/>
                    <a:p>
                      <a:pPr algn="r">
                        <a:buNone/>
                      </a:pPr>
                      <a:r>
                        <a:rPr lang="en-US" b="1" dirty="0"/>
                        <a:t>10 kWh/unit</a:t>
                      </a:r>
                      <a:endParaRPr lang="en-US" dirty="0"/>
                    </a:p>
                  </a:txBody>
                  <a:tcPr anchor="ctr">
                    <a:lnL>
                      <a:noFill/>
                    </a:lnL>
                    <a:lnR>
                      <a:noFill/>
                    </a:lnR>
                    <a:lnT>
                      <a:noFill/>
                    </a:lnT>
                    <a:lnB>
                      <a:noFill/>
                    </a:lnB>
                    <a:noFill/>
                  </a:tcPr>
                </a:tc>
                <a:extLst>
                  <a:ext uri="{0D108BD9-81ED-4DB2-BD59-A6C34878D82A}">
                    <a16:rowId xmlns:a16="http://schemas.microsoft.com/office/drawing/2014/main" val="924143467"/>
                  </a:ext>
                </a:extLst>
              </a:tr>
              <a:tr h="182880">
                <a:tc>
                  <a:txBody>
                    <a:bodyPr/>
                    <a:lstStyle/>
                    <a:p>
                      <a:pPr>
                        <a:buNone/>
                      </a:pPr>
                      <a:r>
                        <a:rPr lang="en-US" dirty="0"/>
                        <a:t>Battery power capacity</a:t>
                      </a:r>
                    </a:p>
                  </a:txBody>
                  <a:tcPr anchor="ctr">
                    <a:lnL>
                      <a:noFill/>
                    </a:lnL>
                    <a:lnR>
                      <a:noFill/>
                    </a:lnR>
                    <a:lnT>
                      <a:noFill/>
                    </a:lnT>
                    <a:lnB>
                      <a:noFill/>
                    </a:lnB>
                    <a:noFill/>
                  </a:tcPr>
                </a:tc>
                <a:tc>
                  <a:txBody>
                    <a:bodyPr/>
                    <a:lstStyle/>
                    <a:p>
                      <a:pPr algn="r">
                        <a:buNone/>
                      </a:pPr>
                      <a:r>
                        <a:rPr lang="en-US" b="1" dirty="0"/>
                        <a:t>5 kWh/unit</a:t>
                      </a:r>
                      <a:endParaRPr lang="en-US" dirty="0"/>
                    </a:p>
                  </a:txBody>
                  <a:tcPr anchor="ctr">
                    <a:lnL>
                      <a:noFill/>
                    </a:lnL>
                    <a:lnR>
                      <a:noFill/>
                    </a:lnR>
                    <a:lnT>
                      <a:noFill/>
                    </a:lnT>
                    <a:lnB>
                      <a:noFill/>
                    </a:lnB>
                    <a:noFill/>
                  </a:tcPr>
                </a:tc>
                <a:extLst>
                  <a:ext uri="{0D108BD9-81ED-4DB2-BD59-A6C34878D82A}">
                    <a16:rowId xmlns:a16="http://schemas.microsoft.com/office/drawing/2014/main" val="4098701038"/>
                  </a:ext>
                </a:extLst>
              </a:tr>
              <a:tr h="182880">
                <a:tc>
                  <a:txBody>
                    <a:bodyPr/>
                    <a:lstStyle/>
                    <a:p>
                      <a:pPr>
                        <a:buNone/>
                      </a:pPr>
                      <a:r>
                        <a:rPr lang="en-US" dirty="0"/>
                        <a:t>Full charge duration (hour rate)</a:t>
                      </a:r>
                    </a:p>
                  </a:txBody>
                  <a:tcPr anchor="ctr">
                    <a:lnL>
                      <a:noFill/>
                    </a:lnL>
                    <a:lnR>
                      <a:noFill/>
                    </a:lnR>
                    <a:lnT>
                      <a:noFill/>
                    </a:lnT>
                    <a:lnB>
                      <a:noFill/>
                    </a:lnB>
                    <a:noFill/>
                  </a:tcPr>
                </a:tc>
                <a:tc>
                  <a:txBody>
                    <a:bodyPr/>
                    <a:lstStyle/>
                    <a:p>
                      <a:pPr algn="r">
                        <a:buNone/>
                      </a:pPr>
                      <a:r>
                        <a:rPr lang="en-US" b="1" dirty="0"/>
                        <a:t>2 h</a:t>
                      </a:r>
                      <a:endParaRPr lang="en-US" dirty="0"/>
                    </a:p>
                  </a:txBody>
                  <a:tcPr anchor="ctr">
                    <a:lnL>
                      <a:noFill/>
                    </a:lnL>
                    <a:lnR>
                      <a:noFill/>
                    </a:lnR>
                    <a:lnT>
                      <a:noFill/>
                    </a:lnT>
                    <a:lnB>
                      <a:noFill/>
                    </a:lnB>
                    <a:noFill/>
                  </a:tcPr>
                </a:tc>
                <a:extLst>
                  <a:ext uri="{0D108BD9-81ED-4DB2-BD59-A6C34878D82A}">
                    <a16:rowId xmlns:a16="http://schemas.microsoft.com/office/drawing/2014/main" val="317458926"/>
                  </a:ext>
                </a:extLst>
              </a:tr>
              <a:tr h="0">
                <a:tc>
                  <a:txBody>
                    <a:bodyPr/>
                    <a:lstStyle/>
                    <a:p>
                      <a:pPr>
                        <a:buNone/>
                      </a:pPr>
                      <a:r>
                        <a:rPr lang="en-US" dirty="0"/>
                        <a:t>Charge/Discharge efficiency</a:t>
                      </a:r>
                    </a:p>
                  </a:txBody>
                  <a:tcPr anchor="ctr">
                    <a:lnL>
                      <a:noFill/>
                    </a:lnL>
                    <a:lnR>
                      <a:noFill/>
                    </a:lnR>
                    <a:lnT>
                      <a:noFill/>
                    </a:lnT>
                    <a:lnB>
                      <a:noFill/>
                    </a:lnB>
                    <a:noFill/>
                  </a:tcPr>
                </a:tc>
                <a:tc>
                  <a:txBody>
                    <a:bodyPr/>
                    <a:lstStyle/>
                    <a:p>
                      <a:pPr algn="r">
                        <a:buNone/>
                      </a:pPr>
                      <a:r>
                        <a:rPr lang="en-SE" b="1" dirty="0"/>
                        <a:t>0.95</a:t>
                      </a:r>
                      <a:endParaRPr lang="en-SE" dirty="0"/>
                    </a:p>
                  </a:txBody>
                  <a:tcPr anchor="ctr">
                    <a:lnL>
                      <a:noFill/>
                    </a:lnL>
                    <a:lnR>
                      <a:noFill/>
                    </a:lnR>
                    <a:lnT>
                      <a:noFill/>
                    </a:lnT>
                    <a:lnB>
                      <a:noFill/>
                    </a:lnB>
                    <a:noFill/>
                  </a:tcPr>
                </a:tc>
                <a:extLst>
                  <a:ext uri="{0D108BD9-81ED-4DB2-BD59-A6C34878D82A}">
                    <a16:rowId xmlns:a16="http://schemas.microsoft.com/office/drawing/2014/main" val="1608283701"/>
                  </a:ext>
                </a:extLst>
              </a:tr>
              <a:tr h="0">
                <a:tc>
                  <a:txBody>
                    <a:bodyPr/>
                    <a:lstStyle/>
                    <a:p>
                      <a:pPr>
                        <a:buNone/>
                      </a:pPr>
                      <a:r>
                        <a:rPr lang="en-US"/>
                        <a:t>SoC min–max</a:t>
                      </a:r>
                    </a:p>
                  </a:txBody>
                  <a:tcPr anchor="ctr">
                    <a:lnL>
                      <a:noFill/>
                    </a:lnL>
                    <a:lnR>
                      <a:noFill/>
                    </a:lnR>
                    <a:lnT>
                      <a:noFill/>
                    </a:lnT>
                    <a:lnB>
                      <a:noFill/>
                    </a:lnB>
                    <a:noFill/>
                  </a:tcPr>
                </a:tc>
                <a:tc>
                  <a:txBody>
                    <a:bodyPr/>
                    <a:lstStyle/>
                    <a:p>
                      <a:pPr algn="r">
                        <a:buNone/>
                      </a:pPr>
                      <a:r>
                        <a:rPr lang="en-SE" b="1" dirty="0"/>
                        <a:t>10–90%</a:t>
                      </a:r>
                      <a:endParaRPr lang="en-SE" dirty="0"/>
                    </a:p>
                  </a:txBody>
                  <a:tcPr anchor="ctr">
                    <a:lnL>
                      <a:noFill/>
                    </a:lnL>
                    <a:lnR>
                      <a:noFill/>
                    </a:lnR>
                    <a:lnT>
                      <a:noFill/>
                    </a:lnT>
                    <a:lnB>
                      <a:noFill/>
                    </a:lnB>
                    <a:noFill/>
                  </a:tcPr>
                </a:tc>
                <a:extLst>
                  <a:ext uri="{0D108BD9-81ED-4DB2-BD59-A6C34878D82A}">
                    <a16:rowId xmlns:a16="http://schemas.microsoft.com/office/drawing/2014/main" val="3022463468"/>
                  </a:ext>
                </a:extLst>
              </a:tr>
              <a:tr h="0">
                <a:tc>
                  <a:txBody>
                    <a:bodyPr/>
                    <a:lstStyle/>
                    <a:p>
                      <a:pPr>
                        <a:buNone/>
                      </a:pPr>
                      <a:r>
                        <a:rPr lang="en-US" dirty="0"/>
                        <a:t>Lifetime</a:t>
                      </a:r>
                    </a:p>
                  </a:txBody>
                  <a:tcPr anchor="ctr">
                    <a:lnL>
                      <a:noFill/>
                    </a:lnL>
                    <a:lnR>
                      <a:noFill/>
                    </a:lnR>
                    <a:lnT>
                      <a:noFill/>
                    </a:lnT>
                    <a:lnB>
                      <a:noFill/>
                    </a:lnB>
                    <a:noFill/>
                  </a:tcPr>
                </a:tc>
                <a:tc>
                  <a:txBody>
                    <a:bodyPr/>
                    <a:lstStyle/>
                    <a:p>
                      <a:pPr algn="r">
                        <a:buNone/>
                      </a:pPr>
                      <a:r>
                        <a:rPr lang="en-US" b="1" dirty="0"/>
                        <a:t>15 years</a:t>
                      </a:r>
                      <a:endParaRPr lang="en-US" dirty="0"/>
                    </a:p>
                  </a:txBody>
                  <a:tcPr anchor="ctr">
                    <a:lnL>
                      <a:noFill/>
                    </a:lnL>
                    <a:lnR>
                      <a:noFill/>
                    </a:lnR>
                    <a:lnT>
                      <a:noFill/>
                    </a:lnT>
                    <a:lnB>
                      <a:noFill/>
                    </a:lnB>
                    <a:noFill/>
                  </a:tcPr>
                </a:tc>
                <a:extLst>
                  <a:ext uri="{0D108BD9-81ED-4DB2-BD59-A6C34878D82A}">
                    <a16:rowId xmlns:a16="http://schemas.microsoft.com/office/drawing/2014/main" val="1435833221"/>
                  </a:ext>
                </a:extLst>
              </a:tr>
              <a:tr h="457200">
                <a:tc>
                  <a:txBody>
                    <a:bodyPr/>
                    <a:lstStyle/>
                    <a:p>
                      <a:pPr>
                        <a:buNone/>
                      </a:pPr>
                      <a:r>
                        <a:rPr lang="en-US" b="1" dirty="0"/>
                        <a:t>Cost</a:t>
                      </a:r>
                      <a:r>
                        <a:rPr lang="en-US" dirty="0"/>
                        <a:t>: site-level BESS with EPC, safety, and grid connection</a:t>
                      </a:r>
                    </a:p>
                  </a:txBody>
                  <a:tcPr anchor="ctr">
                    <a:lnL>
                      <a:noFill/>
                    </a:lnL>
                    <a:lnR>
                      <a:noFill/>
                    </a:lnR>
                    <a:lnT>
                      <a:noFill/>
                    </a:lnT>
                    <a:lnB>
                      <a:noFill/>
                    </a:lnB>
                    <a:noFill/>
                  </a:tcPr>
                </a:tc>
                <a:tc>
                  <a:txBody>
                    <a:bodyPr/>
                    <a:lstStyle/>
                    <a:p>
                      <a:pPr marL="0" algn="r" defTabSz="914400" rtl="0" eaLnBrk="1" latinLnBrk="0" hangingPunct="1">
                        <a:buNone/>
                      </a:pPr>
                      <a:r>
                        <a:rPr lang="en-US" sz="1800" b="1" kern="1200" dirty="0">
                          <a:solidFill>
                            <a:schemeClr val="tx1"/>
                          </a:solidFill>
                          <a:latin typeface="+mn-lt"/>
                          <a:ea typeface="+mn-ea"/>
                          <a:cs typeface="+mn-cs"/>
                        </a:rPr>
                        <a:t>3400 SEK/kWh</a:t>
                      </a:r>
                    </a:p>
                  </a:txBody>
                  <a:tcPr anchor="ctr">
                    <a:lnL>
                      <a:noFill/>
                    </a:lnL>
                    <a:lnR>
                      <a:noFill/>
                    </a:lnR>
                    <a:lnT>
                      <a:noFill/>
                    </a:lnT>
                    <a:lnB>
                      <a:noFill/>
                    </a:lnB>
                    <a:noFill/>
                  </a:tcPr>
                </a:tc>
                <a:extLst>
                  <a:ext uri="{0D108BD9-81ED-4DB2-BD59-A6C34878D82A}">
                    <a16:rowId xmlns:a16="http://schemas.microsoft.com/office/drawing/2014/main" val="639248234"/>
                  </a:ext>
                </a:extLst>
              </a:tr>
            </a:tbl>
          </a:graphicData>
        </a:graphic>
      </p:graphicFrame>
      <p:sp>
        <p:nvSpPr>
          <p:cNvPr id="6" name="TextBox 5">
            <a:extLst>
              <a:ext uri="{FF2B5EF4-FFF2-40B4-BE49-F238E27FC236}">
                <a16:creationId xmlns:a16="http://schemas.microsoft.com/office/drawing/2014/main" id="{F023E924-4A6C-8278-245C-DA3E16079C06}"/>
              </a:ext>
            </a:extLst>
          </p:cNvPr>
          <p:cNvSpPr txBox="1"/>
          <p:nvPr/>
        </p:nvSpPr>
        <p:spPr>
          <a:xfrm>
            <a:off x="738187" y="5572036"/>
            <a:ext cx="10715625" cy="646331"/>
          </a:xfrm>
          <a:prstGeom prst="rect">
            <a:avLst/>
          </a:prstGeom>
          <a:noFill/>
        </p:spPr>
        <p:txBody>
          <a:bodyPr wrap="square">
            <a:spAutoFit/>
          </a:bodyPr>
          <a:lstStyle/>
          <a:p>
            <a:r>
              <a:rPr lang="en-US" b="1" dirty="0"/>
              <a:t>3400 SEK/kWh </a:t>
            </a:r>
            <a:r>
              <a:rPr lang="en-US" dirty="0" err="1"/>
              <a:t>swedish</a:t>
            </a:r>
            <a:r>
              <a:rPr lang="en-US" dirty="0"/>
              <a:t> value considering charging-site integration, grid connection, fire safety, EMS or installation, and installation overhead (European C&amp;I </a:t>
            </a:r>
            <a:r>
              <a:rPr lang="en-US" dirty="0">
                <a:hlinkClick r:id="rId3"/>
              </a:rPr>
              <a:t>market</a:t>
            </a:r>
            <a:r>
              <a:rPr lang="en-US" dirty="0"/>
              <a:t> price).</a:t>
            </a:r>
            <a:endParaRPr lang="en-SE" dirty="0"/>
          </a:p>
        </p:txBody>
      </p:sp>
    </p:spTree>
    <p:extLst>
      <p:ext uri="{BB962C8B-B14F-4D97-AF65-F5344CB8AC3E}">
        <p14:creationId xmlns:p14="http://schemas.microsoft.com/office/powerpoint/2010/main" val="358958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F0E56-2968-A2BF-7633-C833BAAEE4EF}"/>
              </a:ext>
            </a:extLst>
          </p:cNvPr>
          <p:cNvSpPr>
            <a:spLocks noGrp="1"/>
          </p:cNvSpPr>
          <p:nvPr>
            <p:ph type="title"/>
          </p:nvPr>
        </p:nvSpPr>
        <p:spPr>
          <a:xfrm>
            <a:off x="428625" y="7938"/>
            <a:ext cx="10515600" cy="1182687"/>
          </a:xfrm>
        </p:spPr>
        <p:txBody>
          <a:bodyPr/>
          <a:lstStyle/>
          <a:p>
            <a:r>
              <a:rPr lang="en-US" dirty="0"/>
              <a:t>Swedish EV Chargers turnkey considerations</a:t>
            </a:r>
            <a:endParaRPr lang="en-SE" dirty="0"/>
          </a:p>
        </p:txBody>
      </p:sp>
      <p:sp>
        <p:nvSpPr>
          <p:cNvPr id="3" name="Content Placeholder 2">
            <a:extLst>
              <a:ext uri="{FF2B5EF4-FFF2-40B4-BE49-F238E27FC236}">
                <a16:creationId xmlns:a16="http://schemas.microsoft.com/office/drawing/2014/main" id="{051BBBC7-3F85-6886-EB28-93A287432F84}"/>
              </a:ext>
            </a:extLst>
          </p:cNvPr>
          <p:cNvSpPr>
            <a:spLocks noGrp="1"/>
          </p:cNvSpPr>
          <p:nvPr>
            <p:ph idx="1"/>
          </p:nvPr>
        </p:nvSpPr>
        <p:spPr>
          <a:xfrm>
            <a:off x="590550" y="1047750"/>
            <a:ext cx="11010900" cy="5638799"/>
          </a:xfrm>
        </p:spPr>
        <p:txBody>
          <a:bodyPr>
            <a:normAutofit/>
          </a:bodyPr>
          <a:lstStyle/>
          <a:p>
            <a:pPr>
              <a:lnSpc>
                <a:spcPct val="110000"/>
              </a:lnSpc>
            </a:pPr>
            <a:r>
              <a:rPr lang="en-SE" sz="2000" dirty="0"/>
              <a:t>Swedish market </a:t>
            </a:r>
            <a:r>
              <a:rPr lang="en-US" sz="2000" dirty="0"/>
              <a:t>prices </a:t>
            </a:r>
            <a:r>
              <a:rPr lang="en-SE" sz="2000" b="1" dirty="0"/>
              <a:t>7,000–15,000 SEK</a:t>
            </a:r>
            <a:r>
              <a:rPr lang="en-SE" sz="2000" dirty="0"/>
              <a:t> for AC chargers of </a:t>
            </a:r>
            <a:r>
              <a:rPr lang="en-SE" sz="2000" b="1" dirty="0"/>
              <a:t>11–22 kW</a:t>
            </a:r>
            <a:r>
              <a:rPr lang="en-SE" sz="2000" dirty="0"/>
              <a:t>, </a:t>
            </a:r>
            <a:r>
              <a:rPr lang="en-SE" sz="2000" b="1" dirty="0"/>
              <a:t>80,000–300,000 SEK</a:t>
            </a:r>
            <a:r>
              <a:rPr lang="en-SE" sz="2000" dirty="0"/>
              <a:t> for DC fast chargers, </a:t>
            </a:r>
            <a:r>
              <a:rPr lang="en-SE" sz="2000" b="1" dirty="0"/>
              <a:t>5,000–15,000 SEK per parking space</a:t>
            </a:r>
            <a:r>
              <a:rPr lang="en-SE" sz="2000" dirty="0"/>
              <a:t> for installation, </a:t>
            </a:r>
            <a:r>
              <a:rPr lang="en-SE" sz="2000" b="1" dirty="0"/>
              <a:t>5,000–25,000 SEK</a:t>
            </a:r>
            <a:r>
              <a:rPr lang="en-SE" sz="2000" dirty="0"/>
              <a:t> for load balancing/control, and </a:t>
            </a:r>
            <a:r>
              <a:rPr lang="en-SE" sz="2000" b="1" dirty="0"/>
              <a:t>500–1,500 SEK/year per space</a:t>
            </a:r>
            <a:r>
              <a:rPr lang="en-SE" sz="2000" dirty="0"/>
              <a:t> for cloud/operation services</a:t>
            </a:r>
            <a:r>
              <a:rPr lang="en-US" sz="2000" dirty="0"/>
              <a:t> (</a:t>
            </a:r>
            <a:r>
              <a:rPr lang="en-US" sz="2000" dirty="0" err="1"/>
              <a:t>Parkit</a:t>
            </a:r>
            <a:r>
              <a:rPr lang="en-US" sz="2000" dirty="0"/>
              <a:t> </a:t>
            </a:r>
            <a:r>
              <a:rPr lang="en-US" sz="2000" dirty="0">
                <a:hlinkClick r:id="rId2"/>
              </a:rPr>
              <a:t>consultant</a:t>
            </a:r>
            <a:r>
              <a:rPr lang="en-US" sz="2000" dirty="0"/>
              <a:t>)</a:t>
            </a:r>
            <a:r>
              <a:rPr lang="en-SE" sz="2000" dirty="0"/>
              <a:t>.</a:t>
            </a:r>
            <a:r>
              <a:rPr lang="en-US" sz="2000" dirty="0"/>
              <a:t> A </a:t>
            </a:r>
            <a:r>
              <a:rPr lang="en-SE" sz="2000" dirty="0"/>
              <a:t>charging post/pedestal costs </a:t>
            </a:r>
            <a:r>
              <a:rPr lang="en-SE" sz="2000" b="1" dirty="0"/>
              <a:t>20,000–50,000 SEK</a:t>
            </a:r>
            <a:r>
              <a:rPr lang="en-SE" sz="2000" dirty="0"/>
              <a:t>, including ground works and cabling</a:t>
            </a:r>
            <a:r>
              <a:rPr lang="en-US" sz="2000" dirty="0"/>
              <a:t> (</a:t>
            </a:r>
            <a:r>
              <a:rPr lang="en-US" sz="2000" dirty="0">
                <a:hlinkClick r:id="rId3"/>
              </a:rPr>
              <a:t>report</a:t>
            </a:r>
            <a:r>
              <a:rPr lang="en-US" sz="2000" dirty="0"/>
              <a:t>)</a:t>
            </a:r>
          </a:p>
          <a:p>
            <a:pPr>
              <a:lnSpc>
                <a:spcPct val="110000"/>
              </a:lnSpc>
            </a:pPr>
            <a:r>
              <a:rPr lang="en-SE" sz="2000" dirty="0" err="1"/>
              <a:t>Naturvårdsverket’s</a:t>
            </a:r>
            <a:r>
              <a:rPr lang="en-SE" sz="2000" dirty="0"/>
              <a:t> </a:t>
            </a:r>
            <a:r>
              <a:rPr lang="en-SE" sz="2000" dirty="0" err="1"/>
              <a:t>Klimatklivet</a:t>
            </a:r>
            <a:r>
              <a:rPr lang="en-SE" sz="2000" dirty="0"/>
              <a:t> framework treats the </a:t>
            </a:r>
            <a:r>
              <a:rPr lang="en-SE" sz="2000" b="1" dirty="0"/>
              <a:t>10–50 kW</a:t>
            </a:r>
            <a:r>
              <a:rPr lang="en-SE" sz="2000" dirty="0"/>
              <a:t> category as a supported public charging class and </a:t>
            </a:r>
            <a:r>
              <a:rPr lang="en-SE" sz="2000" dirty="0" err="1"/>
              <a:t>su</a:t>
            </a:r>
            <a:r>
              <a:rPr lang="en-US" sz="2000" dirty="0" err="1"/>
              <a:t>bsidizes</a:t>
            </a:r>
            <a:r>
              <a:rPr lang="en-US" sz="2000" dirty="0"/>
              <a:t> </a:t>
            </a:r>
            <a:r>
              <a:rPr lang="en-US" sz="2000" dirty="0" err="1"/>
              <a:t>upto</a:t>
            </a:r>
            <a:r>
              <a:rPr lang="en-US" sz="2000" dirty="0"/>
              <a:t> </a:t>
            </a:r>
            <a:r>
              <a:rPr lang="en-SE" sz="2000" b="1" dirty="0"/>
              <a:t>50% of investment cost</a:t>
            </a:r>
            <a:r>
              <a:rPr lang="en-US" sz="2000" dirty="0"/>
              <a:t> (</a:t>
            </a:r>
            <a:r>
              <a:rPr lang="en-US" sz="2000" dirty="0">
                <a:latin typeface="+mj-lt"/>
                <a:hlinkClick r:id="rId4"/>
              </a:rPr>
              <a:t>subsid</a:t>
            </a:r>
            <a:r>
              <a:rPr lang="en-US" sz="2000" dirty="0">
                <a:latin typeface="+mj-lt"/>
              </a:rPr>
              <a:t>y, </a:t>
            </a:r>
            <a:r>
              <a:rPr lang="en-US" sz="2000" dirty="0">
                <a:latin typeface="+mj-lt"/>
                <a:hlinkClick r:id="rId5"/>
              </a:rPr>
              <a:t>blog</a:t>
            </a:r>
            <a:r>
              <a:rPr lang="en-US" sz="2000" dirty="0">
                <a:latin typeface="+mj-lt"/>
              </a:rPr>
              <a:t>, </a:t>
            </a:r>
            <a:r>
              <a:rPr lang="en-US" sz="2000" dirty="0">
                <a:latin typeface="+mj-lt"/>
                <a:hlinkClick r:id="rId6"/>
              </a:rPr>
              <a:t>Ladda </a:t>
            </a:r>
            <a:r>
              <a:rPr lang="en-US" sz="2000" dirty="0" err="1">
                <a:latin typeface="+mj-lt"/>
                <a:hlinkClick r:id="rId6"/>
              </a:rPr>
              <a:t>bilen</a:t>
            </a:r>
            <a:r>
              <a:rPr lang="en-US" sz="2000" dirty="0">
                <a:latin typeface="+mj-lt"/>
              </a:rPr>
              <a:t>,</a:t>
            </a:r>
            <a:r>
              <a:rPr lang="sv-SE" sz="2000" dirty="0">
                <a:solidFill>
                  <a:srgbClr val="000000"/>
                </a:solidFill>
                <a:latin typeface="+mj-lt"/>
              </a:rPr>
              <a:t> </a:t>
            </a:r>
            <a:r>
              <a:rPr lang="sv-SE" sz="2000" dirty="0">
                <a:solidFill>
                  <a:srgbClr val="10B5BD"/>
                </a:solidFill>
                <a:latin typeface="+mj-lt"/>
                <a:hlinkClick r:id="rId7"/>
              </a:rPr>
              <a:t>Klimatklivet</a:t>
            </a:r>
            <a:r>
              <a:rPr lang="sv-SE" sz="2000" dirty="0">
                <a:latin typeface="+mj-lt"/>
              </a:rPr>
              <a:t>,</a:t>
            </a:r>
            <a:r>
              <a:rPr lang="sv-SE" sz="2000" dirty="0">
                <a:solidFill>
                  <a:srgbClr val="10B5BD"/>
                </a:solidFill>
                <a:latin typeface="+mj-lt"/>
              </a:rPr>
              <a:t> </a:t>
            </a:r>
            <a:r>
              <a:rPr lang="sv-SE" sz="2000" dirty="0">
                <a:solidFill>
                  <a:srgbClr val="10B5BD"/>
                </a:solidFill>
                <a:latin typeface="+mj-lt"/>
                <a:hlinkClick r:id="rId8"/>
              </a:rPr>
              <a:t>Energimyndigheten</a:t>
            </a:r>
            <a:r>
              <a:rPr lang="en-US" sz="2000" dirty="0"/>
              <a:t>)</a:t>
            </a:r>
          </a:p>
          <a:p>
            <a:pPr>
              <a:lnSpc>
                <a:spcPct val="110000"/>
              </a:lnSpc>
            </a:pPr>
            <a:r>
              <a:rPr lang="en-SE" sz="2000" dirty="0"/>
              <a:t>For DC charging, the Swedish </a:t>
            </a:r>
            <a:r>
              <a:rPr lang="en-SE" sz="2000" dirty="0" err="1"/>
              <a:t>EVolution</a:t>
            </a:r>
            <a:r>
              <a:rPr lang="en-SE" sz="2000" dirty="0"/>
              <a:t> Road project </a:t>
            </a:r>
            <a:r>
              <a:rPr lang="en-US" sz="2000" dirty="0"/>
              <a:t>reports</a:t>
            </a:r>
            <a:r>
              <a:rPr lang="en-SE" sz="2000" dirty="0"/>
              <a:t>: fast charging stations cost approximately </a:t>
            </a:r>
            <a:r>
              <a:rPr lang="en-SE" sz="2000" b="1" dirty="0"/>
              <a:t>6,000 SEK per kW</a:t>
            </a:r>
            <a:r>
              <a:rPr lang="en-SE" sz="2000" dirty="0"/>
              <a:t> of charging capacity, implying about </a:t>
            </a:r>
            <a:r>
              <a:rPr lang="en-US" sz="2000" b="1" dirty="0"/>
              <a:t>4</a:t>
            </a:r>
            <a:r>
              <a:rPr lang="en-SE" sz="2000" b="1" dirty="0"/>
              <a:t>00,000 SEK</a:t>
            </a:r>
            <a:r>
              <a:rPr lang="en-SE" sz="2000" dirty="0"/>
              <a:t> for a 50 kW charger</a:t>
            </a:r>
            <a:r>
              <a:rPr lang="en-US" sz="2000" dirty="0"/>
              <a:t> (</a:t>
            </a:r>
            <a:r>
              <a:rPr lang="en-US" sz="2000" dirty="0">
                <a:hlinkClick r:id="rId9"/>
              </a:rPr>
              <a:t>project</a:t>
            </a:r>
            <a:r>
              <a:rPr lang="en-US" sz="2000" dirty="0"/>
              <a:t>)</a:t>
            </a:r>
          </a:p>
          <a:p>
            <a:pPr>
              <a:lnSpc>
                <a:spcPct val="110000"/>
              </a:lnSpc>
            </a:pPr>
            <a:r>
              <a:rPr lang="en-SE" sz="2000" dirty="0"/>
              <a:t>ACEA reports average charger installation costs around </a:t>
            </a:r>
            <a:r>
              <a:rPr lang="en-SE" sz="2000" b="1" dirty="0"/>
              <a:t>€125/kW for AC 4–22 kW chargers</a:t>
            </a:r>
            <a:r>
              <a:rPr lang="en-SE" sz="2000" dirty="0"/>
              <a:t>, with higher costs for DC systems. Using a rough 11–12 SEK/EUR exchange rate, this corresponds to about </a:t>
            </a:r>
            <a:r>
              <a:rPr lang="en-SE" sz="2000" b="1" dirty="0"/>
              <a:t>15,000 SEK for 11 kW AC</a:t>
            </a:r>
            <a:r>
              <a:rPr lang="en-SE" sz="2000" dirty="0"/>
              <a:t> and </a:t>
            </a:r>
            <a:r>
              <a:rPr lang="en-SE" sz="2000" b="1" dirty="0"/>
              <a:t>30,000 SEK for 22 kW AC</a:t>
            </a:r>
            <a:r>
              <a:rPr lang="en-SE" sz="2000" dirty="0"/>
              <a:t>, before local site-specific variation</a:t>
            </a:r>
            <a:r>
              <a:rPr lang="en-US" sz="2000" dirty="0"/>
              <a:t> (EU </a:t>
            </a:r>
            <a:r>
              <a:rPr lang="en-US" sz="2000" dirty="0">
                <a:hlinkClick r:id="rId10"/>
              </a:rPr>
              <a:t>report</a:t>
            </a:r>
            <a:r>
              <a:rPr lang="en-US" sz="2000" dirty="0"/>
              <a:t>)</a:t>
            </a:r>
            <a:endParaRPr lang="en-SE" sz="2000" dirty="0"/>
          </a:p>
        </p:txBody>
      </p:sp>
    </p:spTree>
    <p:extLst>
      <p:ext uri="{BB962C8B-B14F-4D97-AF65-F5344CB8AC3E}">
        <p14:creationId xmlns:p14="http://schemas.microsoft.com/office/powerpoint/2010/main" val="3793396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987B-AA92-E958-8E03-CE941D429BF0}"/>
              </a:ext>
            </a:extLst>
          </p:cNvPr>
          <p:cNvSpPr>
            <a:spLocks noGrp="1"/>
          </p:cNvSpPr>
          <p:nvPr>
            <p:ph type="title"/>
          </p:nvPr>
        </p:nvSpPr>
        <p:spPr>
          <a:xfrm>
            <a:off x="234883" y="23569"/>
            <a:ext cx="10515600" cy="1325563"/>
          </a:xfrm>
        </p:spPr>
        <p:txBody>
          <a:bodyPr/>
          <a:lstStyle/>
          <a:p>
            <a:r>
              <a:rPr lang="en-US" dirty="0"/>
              <a:t>Charger cost and capacity references</a:t>
            </a:r>
            <a:endParaRPr lang="en-SE" dirty="0"/>
          </a:p>
        </p:txBody>
      </p:sp>
      <p:sp>
        <p:nvSpPr>
          <p:cNvPr id="4" name="Content Placeholder 2">
            <a:extLst>
              <a:ext uri="{FF2B5EF4-FFF2-40B4-BE49-F238E27FC236}">
                <a16:creationId xmlns:a16="http://schemas.microsoft.com/office/drawing/2014/main" id="{60A801AA-A4E1-7885-01B6-C276AD144991}"/>
              </a:ext>
            </a:extLst>
          </p:cNvPr>
          <p:cNvSpPr>
            <a:spLocks noGrp="1"/>
          </p:cNvSpPr>
          <p:nvPr>
            <p:ph idx="1"/>
          </p:nvPr>
        </p:nvSpPr>
        <p:spPr>
          <a:xfrm>
            <a:off x="234883" y="990965"/>
            <a:ext cx="11039574" cy="5843466"/>
          </a:xfrm>
        </p:spPr>
        <p:txBody>
          <a:bodyPr>
            <a:normAutofit/>
          </a:bodyPr>
          <a:lstStyle/>
          <a:p>
            <a:pPr>
              <a:lnSpc>
                <a:spcPct val="100000"/>
              </a:lnSpc>
              <a:spcAft>
                <a:spcPts val="600"/>
              </a:spcAft>
            </a:pPr>
            <a:r>
              <a:rPr lang="en-US" sz="2400" dirty="0"/>
              <a:t>Home chargers (7 kW): AC, Single-Phase/Level 1/2 (</a:t>
            </a:r>
            <a:r>
              <a:rPr lang="en-US" sz="2400" dirty="0">
                <a:hlinkClick r:id="rId2"/>
              </a:rPr>
              <a:t>Allego</a:t>
            </a:r>
            <a:r>
              <a:rPr lang="en-US" sz="2400" dirty="0"/>
              <a:t>, </a:t>
            </a:r>
            <a:r>
              <a:rPr lang="en-US" sz="2400" dirty="0">
                <a:hlinkClick r:id="rId3"/>
              </a:rPr>
              <a:t>7.4 kW</a:t>
            </a:r>
            <a:r>
              <a:rPr lang="en-US" sz="2400" dirty="0"/>
              <a:t> portable, smart home </a:t>
            </a:r>
            <a:r>
              <a:rPr lang="en-US" sz="2400" dirty="0">
                <a:hlinkClick r:id="rId4"/>
              </a:rPr>
              <a:t>wallbox</a:t>
            </a:r>
            <a:r>
              <a:rPr lang="en-US" sz="2400" dirty="0"/>
              <a:t>)</a:t>
            </a:r>
          </a:p>
          <a:p>
            <a:pPr>
              <a:lnSpc>
                <a:spcPct val="100000"/>
              </a:lnSpc>
              <a:spcAft>
                <a:spcPts val="600"/>
              </a:spcAft>
            </a:pPr>
            <a:r>
              <a:rPr lang="en-US" sz="2400" dirty="0"/>
              <a:t>Slow chargers (11 kW): AC, Three-Phase, Level 2 (go-</a:t>
            </a:r>
            <a:r>
              <a:rPr lang="en-US" sz="2400" dirty="0" err="1"/>
              <a:t>eCharger</a:t>
            </a:r>
            <a:r>
              <a:rPr lang="en-US" sz="2400" dirty="0"/>
              <a:t> Gemini, Pulsar Plus </a:t>
            </a:r>
            <a:r>
              <a:rPr lang="en-US" sz="2400" dirty="0">
                <a:hlinkClick r:id="rId5"/>
              </a:rPr>
              <a:t>wallbox</a:t>
            </a:r>
            <a:r>
              <a:rPr lang="en-US" sz="2400" dirty="0"/>
              <a:t>, </a:t>
            </a:r>
            <a:r>
              <a:rPr lang="en-US" sz="2400" dirty="0">
                <a:hlinkClick r:id="rId6"/>
              </a:rPr>
              <a:t>ELFA</a:t>
            </a:r>
            <a:r>
              <a:rPr lang="en-US" sz="2400" dirty="0"/>
              <a:t>..)</a:t>
            </a:r>
          </a:p>
          <a:p>
            <a:pPr>
              <a:lnSpc>
                <a:spcPct val="100000"/>
              </a:lnSpc>
              <a:spcAft>
                <a:spcPts val="600"/>
              </a:spcAft>
            </a:pPr>
            <a:r>
              <a:rPr lang="en-US" sz="2400" dirty="0"/>
              <a:t>Fast chargers (22 kW): AC, Three-Phase, Level 2 (</a:t>
            </a:r>
            <a:r>
              <a:rPr lang="en-US" sz="2400" dirty="0">
                <a:hlinkClick r:id="rId7"/>
              </a:rPr>
              <a:t>evify</a:t>
            </a:r>
            <a:r>
              <a:rPr lang="en-US" sz="2400" dirty="0"/>
              <a:t>, </a:t>
            </a:r>
            <a:r>
              <a:rPr lang="fr-FR" sz="2400" dirty="0">
                <a:hlinkClick r:id="rId8"/>
              </a:rPr>
              <a:t>Charge</a:t>
            </a:r>
            <a:r>
              <a:rPr lang="fr-FR" sz="2400" dirty="0"/>
              <a:t> </a:t>
            </a:r>
            <a:r>
              <a:rPr lang="fr-FR" sz="2400" dirty="0" err="1"/>
              <a:t>Amps</a:t>
            </a:r>
            <a:r>
              <a:rPr lang="fr-FR" sz="2400" dirty="0"/>
              <a:t> Dawn, </a:t>
            </a:r>
            <a:r>
              <a:rPr lang="fr-FR" sz="2400" dirty="0" err="1"/>
              <a:t>Zaptec</a:t>
            </a:r>
            <a:r>
              <a:rPr lang="fr-FR" sz="2400" dirty="0"/>
              <a:t> Go..)</a:t>
            </a:r>
            <a:endParaRPr lang="en-US" sz="2400" dirty="0"/>
          </a:p>
          <a:p>
            <a:r>
              <a:rPr lang="en-US" sz="2400" dirty="0"/>
              <a:t>Ultra fast chargers- 23 charging points </a:t>
            </a:r>
          </a:p>
          <a:p>
            <a:pPr marL="0" indent="0">
              <a:buNone/>
            </a:pPr>
            <a:r>
              <a:rPr lang="en-US" sz="2000" dirty="0"/>
              <a:t>	(&gt;43 kW up to 360 kW)</a:t>
            </a:r>
          </a:p>
          <a:p>
            <a:pPr marL="0" indent="0">
              <a:buNone/>
            </a:pPr>
            <a:r>
              <a:rPr lang="en-US" sz="2000" dirty="0"/>
              <a:t>	</a:t>
            </a:r>
            <a:r>
              <a:rPr lang="en-US" sz="2000" dirty="0">
                <a:hlinkClick r:id="rId9"/>
              </a:rPr>
              <a:t>Chargemap</a:t>
            </a:r>
            <a:endParaRPr lang="en-US" sz="2000" dirty="0"/>
          </a:p>
          <a:p>
            <a:pPr marL="0" indent="0">
              <a:buNone/>
            </a:pPr>
            <a:r>
              <a:rPr lang="en-US" sz="2000" dirty="0"/>
              <a:t>	</a:t>
            </a:r>
            <a:r>
              <a:rPr lang="en-US" sz="2000" dirty="0">
                <a:hlinkClick r:id="rId10"/>
              </a:rPr>
              <a:t>ChargeFinder</a:t>
            </a:r>
            <a:endParaRPr lang="en-US" sz="2000" dirty="0"/>
          </a:p>
          <a:p>
            <a:pPr marL="0" indent="0">
              <a:buNone/>
            </a:pPr>
            <a:r>
              <a:rPr lang="en-US" sz="2400" dirty="0">
                <a:hlinkClick r:id="rId11"/>
              </a:rPr>
              <a:t>Hardware</a:t>
            </a:r>
            <a:r>
              <a:rPr lang="en-US" sz="2400" dirty="0"/>
              <a:t> ~ 200,000 </a:t>
            </a:r>
            <a:r>
              <a:rPr lang="en-US" sz="2400" dirty="0" err="1"/>
              <a:t>kr</a:t>
            </a:r>
            <a:endParaRPr lang="en-US" sz="2400" dirty="0"/>
          </a:p>
          <a:p>
            <a:pPr marL="0" indent="0">
              <a:buNone/>
            </a:pPr>
            <a:r>
              <a:rPr lang="en-US" sz="2400" dirty="0">
                <a:hlinkClick r:id="rId12"/>
              </a:rPr>
              <a:t>Installation</a:t>
            </a:r>
            <a:r>
              <a:rPr lang="en-US" sz="2400" dirty="0"/>
              <a:t> ~ 500,000 </a:t>
            </a:r>
            <a:r>
              <a:rPr lang="en-US" sz="2400" dirty="0" err="1"/>
              <a:t>kr</a:t>
            </a:r>
            <a:endParaRPr lang="en-US" sz="2400" dirty="0"/>
          </a:p>
          <a:p>
            <a:pPr marL="0" indent="0">
              <a:buNone/>
            </a:pPr>
            <a:r>
              <a:rPr lang="en-US" sz="1600" dirty="0"/>
              <a:t>(Heliox Rapid </a:t>
            </a:r>
            <a:r>
              <a:rPr lang="en-US" sz="1600" b="1" dirty="0"/>
              <a:t>50 kW</a:t>
            </a:r>
            <a:r>
              <a:rPr lang="en-US" sz="1600" dirty="0"/>
              <a:t>, Tritium RT50, </a:t>
            </a:r>
            <a:r>
              <a:rPr lang="en-US" sz="1600" dirty="0" err="1"/>
              <a:t>Noodoe</a:t>
            </a:r>
            <a:r>
              <a:rPr lang="en-US" sz="1600" dirty="0"/>
              <a:t> DC50A)</a:t>
            </a:r>
            <a:endParaRPr lang="en-US" sz="2400" dirty="0"/>
          </a:p>
        </p:txBody>
      </p:sp>
      <p:pic>
        <p:nvPicPr>
          <p:cNvPr id="5" name="Picture 4">
            <a:extLst>
              <a:ext uri="{FF2B5EF4-FFF2-40B4-BE49-F238E27FC236}">
                <a16:creationId xmlns:a16="http://schemas.microsoft.com/office/drawing/2014/main" id="{3344D209-D262-4939-F7CB-BA96418E05CE}"/>
              </a:ext>
            </a:extLst>
          </p:cNvPr>
          <p:cNvPicPr>
            <a:picLocks noChangeAspect="1"/>
          </p:cNvPicPr>
          <p:nvPr/>
        </p:nvPicPr>
        <p:blipFill>
          <a:blip r:embed="rId13"/>
          <a:stretch>
            <a:fillRect/>
          </a:stretch>
        </p:blipFill>
        <p:spPr>
          <a:xfrm>
            <a:off x="4751893" y="4532671"/>
            <a:ext cx="2838611" cy="2325328"/>
          </a:xfrm>
          <a:prstGeom prst="rect">
            <a:avLst/>
          </a:prstGeom>
        </p:spPr>
      </p:pic>
      <p:pic>
        <p:nvPicPr>
          <p:cNvPr id="6" name="Picture 5">
            <a:extLst>
              <a:ext uri="{FF2B5EF4-FFF2-40B4-BE49-F238E27FC236}">
                <a16:creationId xmlns:a16="http://schemas.microsoft.com/office/drawing/2014/main" id="{F7F21F2B-5BFB-CA89-F03A-816A8591C2F0}"/>
              </a:ext>
            </a:extLst>
          </p:cNvPr>
          <p:cNvPicPr>
            <a:picLocks noChangeAspect="1"/>
          </p:cNvPicPr>
          <p:nvPr/>
        </p:nvPicPr>
        <p:blipFill>
          <a:blip r:embed="rId14"/>
          <a:stretch>
            <a:fillRect/>
          </a:stretch>
        </p:blipFill>
        <p:spPr>
          <a:xfrm>
            <a:off x="7590504" y="3414703"/>
            <a:ext cx="4601496" cy="3443297"/>
          </a:xfrm>
          <a:prstGeom prst="rect">
            <a:avLst/>
          </a:prstGeom>
        </p:spPr>
      </p:pic>
    </p:spTree>
    <p:extLst>
      <p:ext uri="{BB962C8B-B14F-4D97-AF65-F5344CB8AC3E}">
        <p14:creationId xmlns:p14="http://schemas.microsoft.com/office/powerpoint/2010/main" val="438729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BB0B4-C225-4BDA-276E-781DEE722065}"/>
              </a:ext>
            </a:extLst>
          </p:cNvPr>
          <p:cNvSpPr>
            <a:spLocks noGrp="1"/>
          </p:cNvSpPr>
          <p:nvPr>
            <p:ph type="title"/>
          </p:nvPr>
        </p:nvSpPr>
        <p:spPr/>
        <p:txBody>
          <a:bodyPr/>
          <a:lstStyle/>
          <a:p>
            <a:r>
              <a:rPr lang="en-US" dirty="0"/>
              <a:t>Chargers turnkey costs</a:t>
            </a:r>
            <a:endParaRPr lang="en-SE" dirty="0"/>
          </a:p>
        </p:txBody>
      </p:sp>
      <p:graphicFrame>
        <p:nvGraphicFramePr>
          <p:cNvPr id="4" name="Content Placeholder 3">
            <a:extLst>
              <a:ext uri="{FF2B5EF4-FFF2-40B4-BE49-F238E27FC236}">
                <a16:creationId xmlns:a16="http://schemas.microsoft.com/office/drawing/2014/main" id="{773E7931-E3D8-2631-40FA-1AD0CBEDEC81}"/>
              </a:ext>
            </a:extLst>
          </p:cNvPr>
          <p:cNvGraphicFramePr>
            <a:graphicFrameLocks noGrp="1"/>
          </p:cNvGraphicFramePr>
          <p:nvPr>
            <p:ph idx="1"/>
            <p:extLst>
              <p:ext uri="{D42A27DB-BD31-4B8C-83A1-F6EECF244321}">
                <p14:modId xmlns:p14="http://schemas.microsoft.com/office/powerpoint/2010/main" val="4158437852"/>
              </p:ext>
            </p:extLst>
          </p:nvPr>
        </p:nvGraphicFramePr>
        <p:xfrm>
          <a:off x="923925" y="1690688"/>
          <a:ext cx="9591676" cy="1737360"/>
        </p:xfrm>
        <a:graphic>
          <a:graphicData uri="http://schemas.openxmlformats.org/drawingml/2006/table">
            <a:tbl>
              <a:tblPr/>
              <a:tblGrid>
                <a:gridCol w="2496465">
                  <a:extLst>
                    <a:ext uri="{9D8B030D-6E8A-4147-A177-3AD203B41FA5}">
                      <a16:colId xmlns:a16="http://schemas.microsoft.com/office/drawing/2014/main" val="1321445675"/>
                    </a:ext>
                  </a:extLst>
                </a:gridCol>
                <a:gridCol w="814635">
                  <a:extLst>
                    <a:ext uri="{9D8B030D-6E8A-4147-A177-3AD203B41FA5}">
                      <a16:colId xmlns:a16="http://schemas.microsoft.com/office/drawing/2014/main" val="1648033702"/>
                    </a:ext>
                  </a:extLst>
                </a:gridCol>
                <a:gridCol w="1830740">
                  <a:extLst>
                    <a:ext uri="{9D8B030D-6E8A-4147-A177-3AD203B41FA5}">
                      <a16:colId xmlns:a16="http://schemas.microsoft.com/office/drawing/2014/main" val="1818167963"/>
                    </a:ext>
                  </a:extLst>
                </a:gridCol>
                <a:gridCol w="2582935">
                  <a:extLst>
                    <a:ext uri="{9D8B030D-6E8A-4147-A177-3AD203B41FA5}">
                      <a16:colId xmlns:a16="http://schemas.microsoft.com/office/drawing/2014/main" val="2318805969"/>
                    </a:ext>
                  </a:extLst>
                </a:gridCol>
                <a:gridCol w="1866901">
                  <a:extLst>
                    <a:ext uri="{9D8B030D-6E8A-4147-A177-3AD203B41FA5}">
                      <a16:colId xmlns:a16="http://schemas.microsoft.com/office/drawing/2014/main" val="1714670198"/>
                    </a:ext>
                  </a:extLst>
                </a:gridCol>
              </a:tblGrid>
              <a:tr h="0">
                <a:tc>
                  <a:txBody>
                    <a:bodyPr/>
                    <a:lstStyle/>
                    <a:p>
                      <a:pPr>
                        <a:buNone/>
                      </a:pPr>
                      <a:r>
                        <a:rPr lang="en-SE"/>
                        <a:t>Charger class</a:t>
                      </a:r>
                    </a:p>
                  </a:txBody>
                  <a:tcPr anchor="ctr">
                    <a:lnL>
                      <a:noFill/>
                    </a:lnL>
                    <a:lnR>
                      <a:noFill/>
                    </a:lnR>
                    <a:lnT>
                      <a:noFill/>
                    </a:lnT>
                    <a:lnB>
                      <a:noFill/>
                    </a:lnB>
                    <a:noFill/>
                  </a:tcPr>
                </a:tc>
                <a:tc>
                  <a:txBody>
                    <a:bodyPr/>
                    <a:lstStyle/>
                    <a:p>
                      <a:pPr algn="r">
                        <a:buNone/>
                      </a:pPr>
                      <a:r>
                        <a:rPr lang="en-SE"/>
                        <a:t>Power</a:t>
                      </a:r>
                    </a:p>
                  </a:txBody>
                  <a:tcPr anchor="ctr">
                    <a:lnL>
                      <a:noFill/>
                    </a:lnL>
                    <a:lnR>
                      <a:noFill/>
                    </a:lnR>
                    <a:lnT>
                      <a:noFill/>
                    </a:lnT>
                    <a:lnB>
                      <a:noFill/>
                    </a:lnB>
                    <a:noFill/>
                  </a:tcPr>
                </a:tc>
                <a:tc>
                  <a:txBody>
                    <a:bodyPr/>
                    <a:lstStyle/>
                    <a:p>
                      <a:pPr algn="r">
                        <a:buNone/>
                      </a:pPr>
                      <a:r>
                        <a:rPr lang="en-SE" dirty="0"/>
                        <a:t>Energy per 30-min slot</a:t>
                      </a:r>
                    </a:p>
                  </a:txBody>
                  <a:tcPr anchor="ctr">
                    <a:lnL>
                      <a:noFill/>
                    </a:lnL>
                    <a:lnR>
                      <a:noFill/>
                    </a:lnR>
                    <a:lnT>
                      <a:noFill/>
                    </a:lnT>
                    <a:lnB>
                      <a:noFill/>
                    </a:lnB>
                    <a:noFill/>
                  </a:tcPr>
                </a:tc>
                <a:tc>
                  <a:txBody>
                    <a:bodyPr/>
                    <a:lstStyle/>
                    <a:p>
                      <a:pPr algn="r">
                        <a:buNone/>
                      </a:pPr>
                      <a:r>
                        <a:rPr lang="en-SE" dirty="0"/>
                        <a:t>turnkey </a:t>
                      </a:r>
                      <a:r>
                        <a:rPr lang="en-SE" dirty="0" err="1"/>
                        <a:t>CapEx</a:t>
                      </a:r>
                      <a:endParaRPr lang="en-SE" dirty="0"/>
                    </a:p>
                  </a:txBody>
                  <a:tcPr anchor="ctr">
                    <a:lnL>
                      <a:noFill/>
                    </a:lnL>
                    <a:lnR>
                      <a:noFill/>
                    </a:lnR>
                    <a:lnT>
                      <a:noFill/>
                    </a:lnT>
                    <a:lnB>
                      <a:noFill/>
                    </a:lnB>
                    <a:noFill/>
                  </a:tcPr>
                </a:tc>
                <a:tc>
                  <a:txBody>
                    <a:bodyPr/>
                    <a:lstStyle/>
                    <a:p>
                      <a:pPr algn="r">
                        <a:buNone/>
                      </a:pPr>
                      <a:r>
                        <a:rPr lang="en-SE" dirty="0"/>
                        <a:t>Lifetime</a:t>
                      </a:r>
                    </a:p>
                  </a:txBody>
                  <a:tcPr anchor="ctr">
                    <a:lnL>
                      <a:noFill/>
                    </a:lnL>
                    <a:lnR>
                      <a:noFill/>
                    </a:lnR>
                    <a:lnT>
                      <a:noFill/>
                    </a:lnT>
                    <a:lnB>
                      <a:noFill/>
                    </a:lnB>
                    <a:noFill/>
                  </a:tcPr>
                </a:tc>
                <a:extLst>
                  <a:ext uri="{0D108BD9-81ED-4DB2-BD59-A6C34878D82A}">
                    <a16:rowId xmlns:a16="http://schemas.microsoft.com/office/drawing/2014/main" val="4035388317"/>
                  </a:ext>
                </a:extLst>
              </a:tr>
              <a:tr h="0">
                <a:tc>
                  <a:txBody>
                    <a:bodyPr/>
                    <a:lstStyle/>
                    <a:p>
                      <a:pPr>
                        <a:buNone/>
                      </a:pPr>
                      <a:r>
                        <a:rPr lang="en-SE"/>
                        <a:t>Slow AC charger</a:t>
                      </a:r>
                    </a:p>
                  </a:txBody>
                  <a:tcPr anchor="ctr">
                    <a:lnL>
                      <a:noFill/>
                    </a:lnL>
                    <a:lnR>
                      <a:noFill/>
                    </a:lnR>
                    <a:lnT>
                      <a:noFill/>
                    </a:lnT>
                    <a:lnB>
                      <a:noFill/>
                    </a:lnB>
                    <a:noFill/>
                  </a:tcPr>
                </a:tc>
                <a:tc>
                  <a:txBody>
                    <a:bodyPr/>
                    <a:lstStyle/>
                    <a:p>
                      <a:pPr algn="r">
                        <a:buNone/>
                      </a:pPr>
                      <a:r>
                        <a:rPr lang="en-SE" dirty="0"/>
                        <a:t>11 kW</a:t>
                      </a:r>
                    </a:p>
                  </a:txBody>
                  <a:tcPr anchor="ctr">
                    <a:lnL>
                      <a:noFill/>
                    </a:lnL>
                    <a:lnR>
                      <a:noFill/>
                    </a:lnR>
                    <a:lnT>
                      <a:noFill/>
                    </a:lnT>
                    <a:lnB>
                      <a:noFill/>
                    </a:lnB>
                    <a:noFill/>
                  </a:tcPr>
                </a:tc>
                <a:tc>
                  <a:txBody>
                    <a:bodyPr/>
                    <a:lstStyle/>
                    <a:p>
                      <a:pPr algn="r">
                        <a:buNone/>
                      </a:pPr>
                      <a:r>
                        <a:rPr lang="en-SE" dirty="0"/>
                        <a:t>5.5 kWh/slot</a:t>
                      </a:r>
                    </a:p>
                  </a:txBody>
                  <a:tcPr anchor="ctr">
                    <a:lnL>
                      <a:noFill/>
                    </a:lnL>
                    <a:lnR>
                      <a:noFill/>
                    </a:lnR>
                    <a:lnT>
                      <a:noFill/>
                    </a:lnT>
                    <a:lnB>
                      <a:noFill/>
                    </a:lnB>
                    <a:noFill/>
                  </a:tcPr>
                </a:tc>
                <a:tc>
                  <a:txBody>
                    <a:bodyPr/>
                    <a:lstStyle/>
                    <a:p>
                      <a:pPr algn="r">
                        <a:buNone/>
                      </a:pPr>
                      <a:r>
                        <a:rPr lang="en-SE" b="1" dirty="0"/>
                        <a:t>25000 SEK/unit</a:t>
                      </a:r>
                      <a:endParaRPr lang="en-SE" dirty="0"/>
                    </a:p>
                  </a:txBody>
                  <a:tcPr anchor="ctr">
                    <a:lnL>
                      <a:noFill/>
                    </a:lnL>
                    <a:lnR>
                      <a:noFill/>
                    </a:lnR>
                    <a:lnT>
                      <a:noFill/>
                    </a:lnT>
                    <a:lnB>
                      <a:noFill/>
                    </a:lnB>
                    <a:noFill/>
                  </a:tcPr>
                </a:tc>
                <a:tc>
                  <a:txBody>
                    <a:bodyPr/>
                    <a:lstStyle/>
                    <a:p>
                      <a:pPr algn="r">
                        <a:buNone/>
                      </a:pPr>
                      <a:r>
                        <a:rPr lang="en-SE" b="1" dirty="0"/>
                        <a:t>10 years</a:t>
                      </a:r>
                      <a:endParaRPr lang="en-SE" dirty="0"/>
                    </a:p>
                  </a:txBody>
                  <a:tcPr anchor="ctr">
                    <a:lnL>
                      <a:noFill/>
                    </a:lnL>
                    <a:lnR>
                      <a:noFill/>
                    </a:lnR>
                    <a:lnT>
                      <a:noFill/>
                    </a:lnT>
                    <a:lnB>
                      <a:noFill/>
                    </a:lnB>
                    <a:noFill/>
                  </a:tcPr>
                </a:tc>
                <a:extLst>
                  <a:ext uri="{0D108BD9-81ED-4DB2-BD59-A6C34878D82A}">
                    <a16:rowId xmlns:a16="http://schemas.microsoft.com/office/drawing/2014/main" val="1721797476"/>
                  </a:ext>
                </a:extLst>
              </a:tr>
              <a:tr h="0">
                <a:tc>
                  <a:txBody>
                    <a:bodyPr/>
                    <a:lstStyle/>
                    <a:p>
                      <a:pPr>
                        <a:buNone/>
                      </a:pPr>
                      <a:r>
                        <a:rPr lang="en-SE"/>
                        <a:t>Medium AC charger</a:t>
                      </a:r>
                    </a:p>
                  </a:txBody>
                  <a:tcPr anchor="ctr">
                    <a:lnL>
                      <a:noFill/>
                    </a:lnL>
                    <a:lnR>
                      <a:noFill/>
                    </a:lnR>
                    <a:lnT>
                      <a:noFill/>
                    </a:lnT>
                    <a:lnB>
                      <a:noFill/>
                    </a:lnB>
                    <a:noFill/>
                  </a:tcPr>
                </a:tc>
                <a:tc>
                  <a:txBody>
                    <a:bodyPr/>
                    <a:lstStyle/>
                    <a:p>
                      <a:pPr algn="r">
                        <a:buNone/>
                      </a:pPr>
                      <a:r>
                        <a:rPr lang="en-SE"/>
                        <a:t>22 kW</a:t>
                      </a:r>
                    </a:p>
                  </a:txBody>
                  <a:tcPr anchor="ctr">
                    <a:lnL>
                      <a:noFill/>
                    </a:lnL>
                    <a:lnR>
                      <a:noFill/>
                    </a:lnR>
                    <a:lnT>
                      <a:noFill/>
                    </a:lnT>
                    <a:lnB>
                      <a:noFill/>
                    </a:lnB>
                    <a:noFill/>
                  </a:tcPr>
                </a:tc>
                <a:tc>
                  <a:txBody>
                    <a:bodyPr/>
                    <a:lstStyle/>
                    <a:p>
                      <a:pPr algn="r">
                        <a:buNone/>
                      </a:pPr>
                      <a:r>
                        <a:rPr lang="en-SE"/>
                        <a:t>11 kWh/slot</a:t>
                      </a:r>
                    </a:p>
                  </a:txBody>
                  <a:tcPr anchor="ctr">
                    <a:lnL>
                      <a:noFill/>
                    </a:lnL>
                    <a:lnR>
                      <a:noFill/>
                    </a:lnR>
                    <a:lnT>
                      <a:noFill/>
                    </a:lnT>
                    <a:lnB>
                      <a:noFill/>
                    </a:lnB>
                    <a:noFill/>
                  </a:tcPr>
                </a:tc>
                <a:tc>
                  <a:txBody>
                    <a:bodyPr/>
                    <a:lstStyle/>
                    <a:p>
                      <a:pPr algn="r">
                        <a:buNone/>
                      </a:pPr>
                      <a:r>
                        <a:rPr lang="en-SE" b="1" dirty="0"/>
                        <a:t>40000 SEK/unit</a:t>
                      </a:r>
                      <a:endParaRPr lang="en-SE" dirty="0"/>
                    </a:p>
                  </a:txBody>
                  <a:tcPr anchor="ctr">
                    <a:lnL>
                      <a:noFill/>
                    </a:lnL>
                    <a:lnR>
                      <a:noFill/>
                    </a:lnR>
                    <a:lnT>
                      <a:noFill/>
                    </a:lnT>
                    <a:lnB>
                      <a:noFill/>
                    </a:lnB>
                    <a:noFill/>
                  </a:tcPr>
                </a:tc>
                <a:tc>
                  <a:txBody>
                    <a:bodyPr/>
                    <a:lstStyle/>
                    <a:p>
                      <a:pPr algn="r">
                        <a:buNone/>
                      </a:pPr>
                      <a:r>
                        <a:rPr lang="en-SE" b="1"/>
                        <a:t>10 years</a:t>
                      </a:r>
                      <a:endParaRPr lang="en-SE"/>
                    </a:p>
                  </a:txBody>
                  <a:tcPr anchor="ctr">
                    <a:lnL>
                      <a:noFill/>
                    </a:lnL>
                    <a:lnR>
                      <a:noFill/>
                    </a:lnR>
                    <a:lnT>
                      <a:noFill/>
                    </a:lnT>
                    <a:lnB>
                      <a:noFill/>
                    </a:lnB>
                    <a:noFill/>
                  </a:tcPr>
                </a:tc>
                <a:extLst>
                  <a:ext uri="{0D108BD9-81ED-4DB2-BD59-A6C34878D82A}">
                    <a16:rowId xmlns:a16="http://schemas.microsoft.com/office/drawing/2014/main" val="2083835274"/>
                  </a:ext>
                </a:extLst>
              </a:tr>
              <a:tr h="0">
                <a:tc>
                  <a:txBody>
                    <a:bodyPr/>
                    <a:lstStyle/>
                    <a:p>
                      <a:pPr>
                        <a:buNone/>
                      </a:pPr>
                      <a:r>
                        <a:rPr lang="en-SE"/>
                        <a:t>Fast DC charger</a:t>
                      </a:r>
                    </a:p>
                  </a:txBody>
                  <a:tcPr anchor="ctr">
                    <a:lnL>
                      <a:noFill/>
                    </a:lnL>
                    <a:lnR>
                      <a:noFill/>
                    </a:lnR>
                    <a:lnT>
                      <a:noFill/>
                    </a:lnT>
                    <a:lnB>
                      <a:noFill/>
                    </a:lnB>
                    <a:noFill/>
                  </a:tcPr>
                </a:tc>
                <a:tc>
                  <a:txBody>
                    <a:bodyPr/>
                    <a:lstStyle/>
                    <a:p>
                      <a:pPr algn="r">
                        <a:buNone/>
                      </a:pPr>
                      <a:r>
                        <a:rPr lang="en-SE"/>
                        <a:t>50 kW</a:t>
                      </a:r>
                    </a:p>
                  </a:txBody>
                  <a:tcPr anchor="ctr">
                    <a:lnL>
                      <a:noFill/>
                    </a:lnL>
                    <a:lnR>
                      <a:noFill/>
                    </a:lnR>
                    <a:lnT>
                      <a:noFill/>
                    </a:lnT>
                    <a:lnB>
                      <a:noFill/>
                    </a:lnB>
                    <a:noFill/>
                  </a:tcPr>
                </a:tc>
                <a:tc>
                  <a:txBody>
                    <a:bodyPr/>
                    <a:lstStyle/>
                    <a:p>
                      <a:pPr algn="r">
                        <a:buNone/>
                      </a:pPr>
                      <a:r>
                        <a:rPr lang="en-SE" dirty="0"/>
                        <a:t>25 kWh/slot</a:t>
                      </a:r>
                    </a:p>
                  </a:txBody>
                  <a:tcPr anchor="ctr">
                    <a:lnL>
                      <a:noFill/>
                    </a:lnL>
                    <a:lnR>
                      <a:noFill/>
                    </a:lnR>
                    <a:lnT>
                      <a:noFill/>
                    </a:lnT>
                    <a:lnB>
                      <a:noFill/>
                    </a:lnB>
                    <a:noFill/>
                  </a:tcPr>
                </a:tc>
                <a:tc>
                  <a:txBody>
                    <a:bodyPr/>
                    <a:lstStyle/>
                    <a:p>
                      <a:pPr algn="r">
                        <a:buNone/>
                      </a:pPr>
                      <a:r>
                        <a:rPr lang="en-US" b="1" dirty="0"/>
                        <a:t>45</a:t>
                      </a:r>
                      <a:r>
                        <a:rPr lang="en-SE" b="1" dirty="0"/>
                        <a:t>0000 SEK/unit</a:t>
                      </a:r>
                      <a:endParaRPr lang="en-SE" dirty="0"/>
                    </a:p>
                  </a:txBody>
                  <a:tcPr anchor="ctr">
                    <a:lnL>
                      <a:noFill/>
                    </a:lnL>
                    <a:lnR>
                      <a:noFill/>
                    </a:lnR>
                    <a:lnT>
                      <a:noFill/>
                    </a:lnT>
                    <a:lnB>
                      <a:noFill/>
                    </a:lnB>
                    <a:noFill/>
                  </a:tcPr>
                </a:tc>
                <a:tc>
                  <a:txBody>
                    <a:bodyPr/>
                    <a:lstStyle/>
                    <a:p>
                      <a:pPr algn="r">
                        <a:buNone/>
                      </a:pPr>
                      <a:r>
                        <a:rPr lang="en-SE" b="1" dirty="0"/>
                        <a:t>1</a:t>
                      </a:r>
                      <a:r>
                        <a:rPr lang="en-US" b="1" dirty="0"/>
                        <a:t>0</a:t>
                      </a:r>
                      <a:r>
                        <a:rPr lang="en-SE" b="1" dirty="0"/>
                        <a:t> years</a:t>
                      </a:r>
                      <a:endParaRPr lang="en-SE" dirty="0"/>
                    </a:p>
                  </a:txBody>
                  <a:tcPr anchor="ctr">
                    <a:lnL>
                      <a:noFill/>
                    </a:lnL>
                    <a:lnR>
                      <a:noFill/>
                    </a:lnR>
                    <a:lnT>
                      <a:noFill/>
                    </a:lnT>
                    <a:lnB>
                      <a:noFill/>
                    </a:lnB>
                    <a:noFill/>
                  </a:tcPr>
                </a:tc>
                <a:extLst>
                  <a:ext uri="{0D108BD9-81ED-4DB2-BD59-A6C34878D82A}">
                    <a16:rowId xmlns:a16="http://schemas.microsoft.com/office/drawing/2014/main" val="2290270963"/>
                  </a:ext>
                </a:extLst>
              </a:tr>
            </a:tbl>
          </a:graphicData>
        </a:graphic>
      </p:graphicFrame>
      <p:sp>
        <p:nvSpPr>
          <p:cNvPr id="6" name="TextBox 5">
            <a:extLst>
              <a:ext uri="{FF2B5EF4-FFF2-40B4-BE49-F238E27FC236}">
                <a16:creationId xmlns:a16="http://schemas.microsoft.com/office/drawing/2014/main" id="{F68E9F82-B492-D909-4DA2-7C4A33B75D64}"/>
              </a:ext>
            </a:extLst>
          </p:cNvPr>
          <p:cNvSpPr txBox="1"/>
          <p:nvPr/>
        </p:nvSpPr>
        <p:spPr>
          <a:xfrm>
            <a:off x="838200" y="4014947"/>
            <a:ext cx="9677401" cy="923330"/>
          </a:xfrm>
          <a:prstGeom prst="rect">
            <a:avLst/>
          </a:prstGeom>
          <a:noFill/>
        </p:spPr>
        <p:txBody>
          <a:bodyPr wrap="square">
            <a:spAutoFit/>
          </a:bodyPr>
          <a:lstStyle/>
          <a:p>
            <a:r>
              <a:rPr lang="en-SE" dirty="0"/>
              <a:t>For </a:t>
            </a:r>
            <a:r>
              <a:rPr lang="en-SE" b="1" dirty="0"/>
              <a:t>AC chargers</a:t>
            </a:r>
            <a:r>
              <a:rPr lang="en-SE" dirty="0"/>
              <a:t>, installation can dominate the public pedestal</a:t>
            </a:r>
            <a:r>
              <a:rPr lang="en-US" dirty="0"/>
              <a:t> deployment</a:t>
            </a:r>
            <a:r>
              <a:rPr lang="en-SE" dirty="0"/>
              <a:t>. </a:t>
            </a:r>
            <a:endParaRPr lang="en-US" dirty="0"/>
          </a:p>
          <a:p>
            <a:r>
              <a:rPr lang="en-SE" dirty="0"/>
              <a:t>For </a:t>
            </a:r>
            <a:r>
              <a:rPr lang="en-SE" b="1" dirty="0"/>
              <a:t>DC chargers</a:t>
            </a:r>
            <a:r>
              <a:rPr lang="en-SE" dirty="0"/>
              <a:t>, the charger cabinet is expensive, but site works, grid connection, switchgear, and commissioning can also dominate. </a:t>
            </a:r>
          </a:p>
        </p:txBody>
      </p:sp>
      <p:sp>
        <p:nvSpPr>
          <p:cNvPr id="8" name="TextBox 7">
            <a:extLst>
              <a:ext uri="{FF2B5EF4-FFF2-40B4-BE49-F238E27FC236}">
                <a16:creationId xmlns:a16="http://schemas.microsoft.com/office/drawing/2014/main" id="{4219D109-EDEE-38D9-E9BA-5EED12E9E8EE}"/>
              </a:ext>
            </a:extLst>
          </p:cNvPr>
          <p:cNvSpPr txBox="1"/>
          <p:nvPr/>
        </p:nvSpPr>
        <p:spPr>
          <a:xfrm>
            <a:off x="838200" y="5422517"/>
            <a:ext cx="10086975" cy="1070358"/>
          </a:xfrm>
          <a:prstGeom prst="rect">
            <a:avLst/>
          </a:prstGeom>
          <a:noFill/>
        </p:spPr>
        <p:txBody>
          <a:bodyPr wrap="square">
            <a:spAutoFit/>
          </a:bodyPr>
          <a:lstStyle/>
          <a:p>
            <a:pPr marL="0" indent="0">
              <a:lnSpc>
                <a:spcPct val="120000"/>
              </a:lnSpc>
              <a:buNone/>
            </a:pPr>
            <a:r>
              <a:rPr lang="en-US" b="1" dirty="0"/>
              <a:t>Price of Grid Electricity</a:t>
            </a:r>
          </a:p>
          <a:p>
            <a:pPr marL="715963" indent="-273050">
              <a:lnSpc>
                <a:spcPct val="120000"/>
              </a:lnSpc>
            </a:pPr>
            <a:r>
              <a:rPr lang="en-US" sz="1800" b="1" dirty="0"/>
              <a:t>Price/kWh </a:t>
            </a:r>
            <a:r>
              <a:rPr lang="en-US" sz="1800" dirty="0"/>
              <a:t>= 1.25 (VAT) * [(</a:t>
            </a:r>
            <a:r>
              <a:rPr lang="en-US" sz="1800" b="1" dirty="0" err="1"/>
              <a:t>Spot_price</a:t>
            </a:r>
            <a:r>
              <a:rPr lang="en-US" sz="1800" b="1" dirty="0"/>
              <a:t> </a:t>
            </a:r>
            <a:r>
              <a:rPr lang="en-US" sz="1800" dirty="0"/>
              <a:t>(</a:t>
            </a:r>
            <a:r>
              <a:rPr lang="en-US" sz="1800" dirty="0" err="1"/>
              <a:t>NordPool</a:t>
            </a:r>
            <a:r>
              <a:rPr lang="en-US" sz="1800" dirty="0"/>
              <a:t>) + </a:t>
            </a:r>
            <a:r>
              <a:rPr lang="en-US" sz="1800" b="1" dirty="0" err="1"/>
              <a:t>Elect_tax</a:t>
            </a:r>
            <a:r>
              <a:rPr lang="en-US" sz="1800" b="1" dirty="0"/>
              <a:t> </a:t>
            </a:r>
            <a:r>
              <a:rPr lang="en-US" sz="1800" dirty="0"/>
              <a:t>(0.36 </a:t>
            </a:r>
            <a:r>
              <a:rPr lang="en-US" sz="1800" dirty="0" err="1"/>
              <a:t>kr</a:t>
            </a:r>
            <a:r>
              <a:rPr lang="en-US" sz="1800" dirty="0"/>
              <a:t>/kWh) + </a:t>
            </a:r>
          </a:p>
          <a:p>
            <a:pPr marL="2960688" indent="-2876550">
              <a:lnSpc>
                <a:spcPct val="120000"/>
              </a:lnSpc>
              <a:buNone/>
            </a:pPr>
            <a:r>
              <a:rPr lang="en-US" sz="1800" b="1" dirty="0"/>
              <a:t>			</a:t>
            </a:r>
            <a:r>
              <a:rPr lang="en-US" sz="1800" b="1" dirty="0" err="1"/>
              <a:t>grid_fee</a:t>
            </a:r>
            <a:r>
              <a:rPr lang="en-US" sz="1800" b="1" dirty="0"/>
              <a:t> </a:t>
            </a:r>
            <a:r>
              <a:rPr lang="en-US" sz="1800" dirty="0"/>
              <a:t>(0.3 </a:t>
            </a:r>
            <a:r>
              <a:rPr lang="en-US" sz="1800" dirty="0" err="1"/>
              <a:t>kr</a:t>
            </a:r>
            <a:r>
              <a:rPr lang="en-US" sz="1800" dirty="0"/>
              <a:t>/kWh) + </a:t>
            </a:r>
            <a:r>
              <a:rPr lang="en-US" sz="1800" b="1" dirty="0"/>
              <a:t>retail</a:t>
            </a:r>
            <a:r>
              <a:rPr lang="en-US" sz="1800" dirty="0"/>
              <a:t> (0.02 </a:t>
            </a:r>
            <a:r>
              <a:rPr lang="en-US" sz="1800" dirty="0" err="1"/>
              <a:t>kr</a:t>
            </a:r>
            <a:r>
              <a:rPr lang="en-US" sz="1800" dirty="0"/>
              <a:t>/kWh)]</a:t>
            </a:r>
          </a:p>
        </p:txBody>
      </p:sp>
    </p:spTree>
    <p:extLst>
      <p:ext uri="{BB962C8B-B14F-4D97-AF65-F5344CB8AC3E}">
        <p14:creationId xmlns:p14="http://schemas.microsoft.com/office/powerpoint/2010/main" val="274332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786CD54-98D6-92F5-921B-E618534A8AD4}"/>
              </a:ext>
            </a:extLst>
          </p:cNvPr>
          <p:cNvGraphicFramePr>
            <a:graphicFrameLocks noGrp="1"/>
          </p:cNvGraphicFramePr>
          <p:nvPr/>
        </p:nvGraphicFramePr>
        <p:xfrm>
          <a:off x="270238" y="276999"/>
          <a:ext cx="11651524" cy="6532775"/>
        </p:xfrm>
        <a:graphic>
          <a:graphicData uri="http://schemas.openxmlformats.org/drawingml/2006/table">
            <a:tbl>
              <a:tblPr>
                <a:tableStyleId>{5C22544A-7EE6-4342-B048-85BDC9FD1C3A}</a:tableStyleId>
              </a:tblPr>
              <a:tblGrid>
                <a:gridCol w="913480">
                  <a:extLst>
                    <a:ext uri="{9D8B030D-6E8A-4147-A177-3AD203B41FA5}">
                      <a16:colId xmlns:a16="http://schemas.microsoft.com/office/drawing/2014/main" val="3883182003"/>
                    </a:ext>
                  </a:extLst>
                </a:gridCol>
                <a:gridCol w="894837">
                  <a:extLst>
                    <a:ext uri="{9D8B030D-6E8A-4147-A177-3AD203B41FA5}">
                      <a16:colId xmlns:a16="http://schemas.microsoft.com/office/drawing/2014/main" val="1410307044"/>
                    </a:ext>
                  </a:extLst>
                </a:gridCol>
                <a:gridCol w="894837">
                  <a:extLst>
                    <a:ext uri="{9D8B030D-6E8A-4147-A177-3AD203B41FA5}">
                      <a16:colId xmlns:a16="http://schemas.microsoft.com/office/drawing/2014/main" val="3480688077"/>
                    </a:ext>
                  </a:extLst>
                </a:gridCol>
                <a:gridCol w="894837">
                  <a:extLst>
                    <a:ext uri="{9D8B030D-6E8A-4147-A177-3AD203B41FA5}">
                      <a16:colId xmlns:a16="http://schemas.microsoft.com/office/drawing/2014/main" val="1319636462"/>
                    </a:ext>
                  </a:extLst>
                </a:gridCol>
                <a:gridCol w="894837">
                  <a:extLst>
                    <a:ext uri="{9D8B030D-6E8A-4147-A177-3AD203B41FA5}">
                      <a16:colId xmlns:a16="http://schemas.microsoft.com/office/drawing/2014/main" val="2241849226"/>
                    </a:ext>
                  </a:extLst>
                </a:gridCol>
                <a:gridCol w="894837">
                  <a:extLst>
                    <a:ext uri="{9D8B030D-6E8A-4147-A177-3AD203B41FA5}">
                      <a16:colId xmlns:a16="http://schemas.microsoft.com/office/drawing/2014/main" val="2257686751"/>
                    </a:ext>
                  </a:extLst>
                </a:gridCol>
                <a:gridCol w="894837">
                  <a:extLst>
                    <a:ext uri="{9D8B030D-6E8A-4147-A177-3AD203B41FA5}">
                      <a16:colId xmlns:a16="http://schemas.microsoft.com/office/drawing/2014/main" val="53537992"/>
                    </a:ext>
                  </a:extLst>
                </a:gridCol>
                <a:gridCol w="894837">
                  <a:extLst>
                    <a:ext uri="{9D8B030D-6E8A-4147-A177-3AD203B41FA5}">
                      <a16:colId xmlns:a16="http://schemas.microsoft.com/office/drawing/2014/main" val="2348012076"/>
                    </a:ext>
                  </a:extLst>
                </a:gridCol>
                <a:gridCol w="894837">
                  <a:extLst>
                    <a:ext uri="{9D8B030D-6E8A-4147-A177-3AD203B41FA5}">
                      <a16:colId xmlns:a16="http://schemas.microsoft.com/office/drawing/2014/main" val="3648830932"/>
                    </a:ext>
                  </a:extLst>
                </a:gridCol>
                <a:gridCol w="894837">
                  <a:extLst>
                    <a:ext uri="{9D8B030D-6E8A-4147-A177-3AD203B41FA5}">
                      <a16:colId xmlns:a16="http://schemas.microsoft.com/office/drawing/2014/main" val="522688567"/>
                    </a:ext>
                  </a:extLst>
                </a:gridCol>
                <a:gridCol w="894837">
                  <a:extLst>
                    <a:ext uri="{9D8B030D-6E8A-4147-A177-3AD203B41FA5}">
                      <a16:colId xmlns:a16="http://schemas.microsoft.com/office/drawing/2014/main" val="1589450337"/>
                    </a:ext>
                  </a:extLst>
                </a:gridCol>
                <a:gridCol w="894837">
                  <a:extLst>
                    <a:ext uri="{9D8B030D-6E8A-4147-A177-3AD203B41FA5}">
                      <a16:colId xmlns:a16="http://schemas.microsoft.com/office/drawing/2014/main" val="2534382097"/>
                    </a:ext>
                  </a:extLst>
                </a:gridCol>
                <a:gridCol w="894837">
                  <a:extLst>
                    <a:ext uri="{9D8B030D-6E8A-4147-A177-3AD203B41FA5}">
                      <a16:colId xmlns:a16="http://schemas.microsoft.com/office/drawing/2014/main" val="844876009"/>
                    </a:ext>
                  </a:extLst>
                </a:gridCol>
              </a:tblGrid>
              <a:tr h="261311">
                <a:tc>
                  <a:txBody>
                    <a:bodyPr/>
                    <a:lstStyle/>
                    <a:p>
                      <a:pPr algn="ctr" fontAlgn="b"/>
                      <a:r>
                        <a:rPr lang="sv-SE" sz="1400" b="1" i="0" u="none" strike="noStrike" dirty="0">
                          <a:solidFill>
                            <a:srgbClr val="000000"/>
                          </a:solidFill>
                          <a:effectLst/>
                          <a:latin typeface="Aptos Narrow" panose="020B0004020202020204" pitchFamily="34" charset="0"/>
                        </a:rPr>
                        <a:t>Spot Price</a:t>
                      </a:r>
                      <a:endParaRPr lang="sv-SE" sz="1200" b="1" i="0" u="none" strike="noStrike" dirty="0">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Jan</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Feb</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Mar</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Apr</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May</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Jun</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b="1" u="none" strike="noStrike" dirty="0" err="1">
                          <a:effectLst/>
                        </a:rPr>
                        <a:t>July</a:t>
                      </a:r>
                      <a:endParaRPr lang="sv-SE" sz="1200" b="1" i="0" u="none" strike="noStrike" dirty="0">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Aug</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Sep</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b="1" u="none" strike="noStrike" dirty="0" err="1">
                          <a:effectLst/>
                        </a:rPr>
                        <a:t>Oct</a:t>
                      </a:r>
                      <a:endParaRPr lang="sv-SE" sz="1200" b="1" i="0" u="none" strike="noStrike" dirty="0">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Nov</a:t>
                      </a:r>
                      <a:endParaRPr lang="sv-SE" sz="1200" b="1"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Dec</a:t>
                      </a:r>
                      <a:endParaRPr lang="sv-SE" sz="1200" b="1"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067552963"/>
                  </a:ext>
                </a:extLst>
              </a:tr>
              <a:tr h="261311">
                <a:tc>
                  <a:txBody>
                    <a:bodyPr/>
                    <a:lstStyle/>
                    <a:p>
                      <a:pPr algn="ctr" fontAlgn="ctr"/>
                      <a:r>
                        <a:rPr lang="sv-SE" sz="1200" u="none" strike="noStrike">
                          <a:effectLst/>
                        </a:rPr>
                        <a:t>00 - 01</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27.40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59.83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28.21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4.65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52.65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37.34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17.04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14.49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-4.37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81.10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86.13</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005312976"/>
                  </a:ext>
                </a:extLst>
              </a:tr>
              <a:tr h="261311">
                <a:tc>
                  <a:txBody>
                    <a:bodyPr/>
                    <a:lstStyle/>
                    <a:p>
                      <a:pPr algn="ctr" fontAlgn="ctr"/>
                      <a:r>
                        <a:rPr lang="sv-SE" sz="1200" u="none" strike="noStrike">
                          <a:effectLst/>
                        </a:rPr>
                        <a:t>01 - 02</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27.23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69.29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56.95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28.15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4.63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48.47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36.57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16.00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13.91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-4.40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76.42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82.93</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85053931"/>
                  </a:ext>
                </a:extLst>
              </a:tr>
              <a:tr h="261311">
                <a:tc>
                  <a:txBody>
                    <a:bodyPr/>
                    <a:lstStyle/>
                    <a:p>
                      <a:pPr algn="ctr" fontAlgn="ctr"/>
                      <a:r>
                        <a:rPr lang="sv-SE" sz="1200" u="none" strike="noStrike">
                          <a:effectLst/>
                        </a:rPr>
                        <a:t>02 - 03</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24.28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66.94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56.94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28.59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4.80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48.34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29.15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14.89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13.19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-4.43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80.10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801645963"/>
                  </a:ext>
                </a:extLst>
              </a:tr>
              <a:tr h="261311">
                <a:tc>
                  <a:txBody>
                    <a:bodyPr/>
                    <a:lstStyle/>
                    <a:p>
                      <a:pPr algn="ctr" fontAlgn="ctr"/>
                      <a:r>
                        <a:rPr lang="sv-SE" sz="1200" u="none" strike="noStrike">
                          <a:effectLst/>
                        </a:rPr>
                        <a:t>03 - 04</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13.00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67.78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56.97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29.92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50.26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19.95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15.18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12.47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-4.35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70.69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76.55</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123746179"/>
                  </a:ext>
                </a:extLst>
              </a:tr>
              <a:tr h="261311">
                <a:tc>
                  <a:txBody>
                    <a:bodyPr/>
                    <a:lstStyle/>
                    <a:p>
                      <a:pPr algn="ctr" fontAlgn="ctr"/>
                      <a:r>
                        <a:rPr lang="sv-SE" sz="1200" u="none" strike="noStrike">
                          <a:effectLst/>
                        </a:rPr>
                        <a:t>04 - 05</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7.98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54.97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32.32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5.28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51.87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16.98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15.31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12.50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-4.33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74.45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75.16</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544738631"/>
                  </a:ext>
                </a:extLst>
              </a:tr>
              <a:tr h="261311">
                <a:tc>
                  <a:txBody>
                    <a:bodyPr/>
                    <a:lstStyle/>
                    <a:p>
                      <a:pPr algn="ctr" fontAlgn="ctr"/>
                      <a:r>
                        <a:rPr lang="sv-SE" sz="1200" u="none" strike="noStrike">
                          <a:effectLst/>
                        </a:rPr>
                        <a:t>05 - 06</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4.85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69.29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57.23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38.01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58.50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17.35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12.49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80.68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80.41</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957170172"/>
                  </a:ext>
                </a:extLst>
              </a:tr>
              <a:tr h="261311">
                <a:tc>
                  <a:txBody>
                    <a:bodyPr/>
                    <a:lstStyle/>
                    <a:p>
                      <a:pPr algn="ctr" fontAlgn="ctr"/>
                      <a:r>
                        <a:rPr lang="sv-SE" sz="1200" u="none" strike="noStrike">
                          <a:effectLst/>
                        </a:rPr>
                        <a:t>06 - 07</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6.05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109.05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112.86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39.11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14.51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19.90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19.17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13.93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-3.32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98.69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95.97</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59948818"/>
                  </a:ext>
                </a:extLst>
              </a:tr>
              <a:tr h="261311">
                <a:tc>
                  <a:txBody>
                    <a:bodyPr/>
                    <a:lstStyle/>
                    <a:p>
                      <a:pPr algn="ctr" fontAlgn="ctr"/>
                      <a:r>
                        <a:rPr lang="sv-SE" sz="1200" u="none" strike="noStrike">
                          <a:effectLst/>
                        </a:rPr>
                        <a:t>07 - 08</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10.09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136.33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41.17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92.26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67.46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22.60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22.86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28.97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122.19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106.95</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940816008"/>
                  </a:ext>
                </a:extLst>
              </a:tr>
              <a:tr h="261311">
                <a:tc>
                  <a:txBody>
                    <a:bodyPr/>
                    <a:lstStyle/>
                    <a:p>
                      <a:pPr algn="ctr" fontAlgn="ctr"/>
                      <a:r>
                        <a:rPr lang="sv-SE" sz="1200" u="none" strike="noStrike">
                          <a:effectLst/>
                        </a:rPr>
                        <a:t>08 - 09</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14.03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182.72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148.68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50.05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94.13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29.87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26.26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125.07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-2.61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128.59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121.50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4015307256"/>
                  </a:ext>
                </a:extLst>
              </a:tr>
              <a:tr h="261311">
                <a:tc>
                  <a:txBody>
                    <a:bodyPr/>
                    <a:lstStyle/>
                    <a:p>
                      <a:pPr algn="ctr" fontAlgn="ctr"/>
                      <a:r>
                        <a:rPr lang="sv-SE" sz="1200" u="none" strike="noStrike">
                          <a:effectLst/>
                        </a:rPr>
                        <a:t>09 - 10</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19.07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150.98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111.63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50.02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87.33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69.90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17.41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27.94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104.38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121.29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117.44</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323519045"/>
                  </a:ext>
                </a:extLst>
              </a:tr>
              <a:tr h="261311">
                <a:tc>
                  <a:txBody>
                    <a:bodyPr/>
                    <a:lstStyle/>
                    <a:p>
                      <a:pPr algn="ctr" fontAlgn="ctr"/>
                      <a:r>
                        <a:rPr lang="sv-SE" sz="1200" u="none" strike="noStrike">
                          <a:effectLst/>
                        </a:rPr>
                        <a:t>10 - 11</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17.83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128.67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103.27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43.93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52.98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68.54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25.97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49.94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112.78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109.97</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650574860"/>
                  </a:ext>
                </a:extLst>
              </a:tr>
              <a:tr h="261311">
                <a:tc>
                  <a:txBody>
                    <a:bodyPr/>
                    <a:lstStyle/>
                    <a:p>
                      <a:pPr algn="ctr" fontAlgn="ctr"/>
                      <a:r>
                        <a:rPr lang="sv-SE" sz="1200" u="none" strike="noStrike">
                          <a:effectLst/>
                        </a:rPr>
                        <a:t>11 - 12</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11.70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114.74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60.06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41.40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30.45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67.73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0.02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24.59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28.96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99.84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102.75</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979899946"/>
                  </a:ext>
                </a:extLst>
              </a:tr>
              <a:tr h="261311">
                <a:tc>
                  <a:txBody>
                    <a:bodyPr/>
                    <a:lstStyle/>
                    <a:p>
                      <a:pPr algn="ctr" fontAlgn="ctr"/>
                      <a:r>
                        <a:rPr lang="sv-SE" sz="1200" u="none" strike="noStrike">
                          <a:effectLst/>
                        </a:rPr>
                        <a:t>12 - 13</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6.93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113.52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53.13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40.55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14.94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68.07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dirty="0">
                          <a:effectLst/>
                        </a:rPr>
                        <a:t>0.01</a:t>
                      </a:r>
                      <a:endParaRPr lang="sv-SE" sz="1200" b="0" i="0" u="none" strike="noStrike" dirty="0">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23.85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21.98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97.36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94.13</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550239527"/>
                  </a:ext>
                </a:extLst>
              </a:tr>
              <a:tr h="261311">
                <a:tc>
                  <a:txBody>
                    <a:bodyPr/>
                    <a:lstStyle/>
                    <a:p>
                      <a:pPr algn="ctr" fontAlgn="ctr"/>
                      <a:r>
                        <a:rPr lang="sv-SE" sz="1200" u="none" strike="noStrike">
                          <a:effectLst/>
                        </a:rPr>
                        <a:t>13 - 14</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6.04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50.77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40.01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11.62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70.15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-0.13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22.89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101.09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88.30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685037464"/>
                  </a:ext>
                </a:extLst>
              </a:tr>
              <a:tr h="261311">
                <a:tc>
                  <a:txBody>
                    <a:bodyPr/>
                    <a:lstStyle/>
                    <a:p>
                      <a:pPr algn="ctr" fontAlgn="ctr"/>
                      <a:r>
                        <a:rPr lang="sv-SE" sz="1200" u="none" strike="noStrike">
                          <a:effectLst/>
                        </a:rPr>
                        <a:t>14 - 15</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6.09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112.83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60.02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40.07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8.95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69.94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22.98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15.66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-2.61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106.27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86.34</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263066023"/>
                  </a:ext>
                </a:extLst>
              </a:tr>
              <a:tr h="261311">
                <a:tc>
                  <a:txBody>
                    <a:bodyPr/>
                    <a:lstStyle/>
                    <a:p>
                      <a:pPr algn="ctr" fontAlgn="ctr"/>
                      <a:r>
                        <a:rPr lang="sv-SE" sz="1200" u="none" strike="noStrike">
                          <a:effectLst/>
                        </a:rPr>
                        <a:t>15 - 16</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19.10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112.75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91.65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40.68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11.92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68.00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23.16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15.42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121.21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87.70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345909249"/>
                  </a:ext>
                </a:extLst>
              </a:tr>
              <a:tr h="261311">
                <a:tc>
                  <a:txBody>
                    <a:bodyPr/>
                    <a:lstStyle/>
                    <a:p>
                      <a:pPr algn="ctr" fontAlgn="ctr"/>
                      <a:r>
                        <a:rPr lang="sv-SE" sz="1200" u="none" strike="noStrike">
                          <a:effectLst/>
                        </a:rPr>
                        <a:t>16 - 17</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27.43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112.88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101.05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41.18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39.97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67.02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24.35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16.10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122.96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95.77</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74087490"/>
                  </a:ext>
                </a:extLst>
              </a:tr>
              <a:tr h="261311">
                <a:tc>
                  <a:txBody>
                    <a:bodyPr/>
                    <a:lstStyle/>
                    <a:p>
                      <a:pPr algn="ctr" fontAlgn="ctr"/>
                      <a:r>
                        <a:rPr lang="sv-SE" sz="1200" u="none" strike="noStrike">
                          <a:effectLst/>
                        </a:rPr>
                        <a:t>17 - 18</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30.90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112.18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108.07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45.79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73.55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67.91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20.90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24.90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16.79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-0.03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127.84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92.65</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498393919"/>
                  </a:ext>
                </a:extLst>
              </a:tr>
              <a:tr h="261311">
                <a:tc>
                  <a:txBody>
                    <a:bodyPr/>
                    <a:lstStyle/>
                    <a:p>
                      <a:pPr algn="ctr" fontAlgn="ctr"/>
                      <a:r>
                        <a:rPr lang="sv-SE" sz="1200" u="none" strike="noStrike">
                          <a:effectLst/>
                        </a:rPr>
                        <a:t>18 - 19</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27.61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108.92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111.23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51.78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80.30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69.91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35.51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23.98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15.55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0.00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129.90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84.91</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2086277322"/>
                  </a:ext>
                </a:extLst>
              </a:tr>
              <a:tr h="261311">
                <a:tc>
                  <a:txBody>
                    <a:bodyPr/>
                    <a:lstStyle/>
                    <a:p>
                      <a:pPr algn="ctr" fontAlgn="ctr"/>
                      <a:r>
                        <a:rPr lang="sv-SE" sz="1200" u="none" strike="noStrike">
                          <a:effectLst/>
                        </a:rPr>
                        <a:t>19 - 20</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25.90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104.96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109.53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54.53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82.80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68.69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35.79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22.87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13.33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121.08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79.60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800285318"/>
                  </a:ext>
                </a:extLst>
              </a:tr>
              <a:tr h="261311">
                <a:tc>
                  <a:txBody>
                    <a:bodyPr/>
                    <a:lstStyle/>
                    <a:p>
                      <a:pPr algn="ctr" fontAlgn="ctr"/>
                      <a:r>
                        <a:rPr lang="sv-SE" sz="1200" u="none" strike="noStrike">
                          <a:effectLst/>
                        </a:rPr>
                        <a:t>20 - 21</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12.47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73.74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105.26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52.31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83.71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63.62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33.51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24.35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-0.46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109.90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77.01</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4006864325"/>
                  </a:ext>
                </a:extLst>
              </a:tr>
              <a:tr h="261311">
                <a:tc>
                  <a:txBody>
                    <a:bodyPr/>
                    <a:lstStyle/>
                    <a:p>
                      <a:pPr algn="ctr" fontAlgn="ctr"/>
                      <a:r>
                        <a:rPr lang="sv-SE" sz="1200" u="none" strike="noStrike">
                          <a:effectLst/>
                        </a:rPr>
                        <a:t>21 - 22</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20.79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66.17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105.06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50.01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82.63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60.47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30.67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23.17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11.16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-1.10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97.50</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75.70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4195463891"/>
                  </a:ext>
                </a:extLst>
              </a:tr>
              <a:tr h="261311">
                <a:tc>
                  <a:txBody>
                    <a:bodyPr/>
                    <a:lstStyle/>
                    <a:p>
                      <a:pPr algn="ctr" fontAlgn="ctr"/>
                      <a:r>
                        <a:rPr lang="sv-SE" sz="1200" u="none" strike="noStrike">
                          <a:effectLst/>
                        </a:rPr>
                        <a:t>22 - 23</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31.04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58.34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81.67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46.89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17.87</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56.84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20.75</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18.99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8.93</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-1.26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91.66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60.80</a:t>
                      </a:r>
                      <a:endParaRPr lang="sv-SE" sz="1200" b="0" i="0" u="none" strike="noStrike">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1365908640"/>
                  </a:ext>
                </a:extLst>
              </a:tr>
              <a:tr h="261311">
                <a:tc>
                  <a:txBody>
                    <a:bodyPr/>
                    <a:lstStyle/>
                    <a:p>
                      <a:pPr algn="ctr" fontAlgn="ctr"/>
                      <a:r>
                        <a:rPr lang="sv-SE" sz="1200" u="none" strike="noStrike">
                          <a:effectLst/>
                        </a:rPr>
                        <a:t>23 - 00</a:t>
                      </a:r>
                      <a:endParaRPr lang="sv-SE" sz="1200" b="1" i="0" u="none" strike="noStrike">
                        <a:solidFill>
                          <a:srgbClr val="1E1E1E"/>
                        </a:solidFill>
                        <a:effectLst/>
                        <a:latin typeface="Arial" panose="020B0604020202020204" pitchFamily="34" charset="0"/>
                      </a:endParaRPr>
                    </a:p>
                  </a:txBody>
                  <a:tcPr marL="7252" marR="7252" marT="7252" marB="0" anchor="ctr"/>
                </a:tc>
                <a:tc>
                  <a:txBody>
                    <a:bodyPr/>
                    <a:lstStyle/>
                    <a:p>
                      <a:pPr algn="ctr" fontAlgn="b"/>
                      <a:r>
                        <a:rPr lang="sv-SE" sz="1200" u="none" strike="noStrike">
                          <a:effectLst/>
                        </a:rPr>
                        <a:t>32.38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49.59</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72.91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43.66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7.24</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51.48</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16.22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17.56</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6.02</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dirty="0">
                          <a:effectLst/>
                        </a:rPr>
                        <a:t>-2.07</a:t>
                      </a:r>
                      <a:endParaRPr lang="sv-SE" sz="1200" b="0" i="0" u="none" strike="noStrike" dirty="0">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a:effectLst/>
                        </a:rPr>
                        <a:t>84.21</a:t>
                      </a:r>
                      <a:endParaRPr lang="sv-SE" sz="1200" b="0" i="0" u="none" strike="noStrike">
                        <a:solidFill>
                          <a:srgbClr val="000000"/>
                        </a:solidFill>
                        <a:effectLst/>
                        <a:latin typeface="Aptos Narrow" panose="020B0004020202020204" pitchFamily="34" charset="0"/>
                      </a:endParaRPr>
                    </a:p>
                  </a:txBody>
                  <a:tcPr marL="7252" marR="7252" marT="7252" marB="0" anchor="b"/>
                </a:tc>
                <a:tc>
                  <a:txBody>
                    <a:bodyPr/>
                    <a:lstStyle/>
                    <a:p>
                      <a:pPr algn="ctr" fontAlgn="b"/>
                      <a:r>
                        <a:rPr lang="sv-SE" sz="1200" u="none" strike="noStrike" dirty="0">
                          <a:effectLst/>
                        </a:rPr>
                        <a:t>69.47</a:t>
                      </a:r>
                      <a:endParaRPr lang="sv-SE" sz="1200" b="0" i="0" u="none" strike="noStrike" dirty="0">
                        <a:solidFill>
                          <a:srgbClr val="000000"/>
                        </a:solidFill>
                        <a:effectLst/>
                        <a:latin typeface="Aptos Narrow" panose="020B0004020202020204" pitchFamily="34" charset="0"/>
                      </a:endParaRPr>
                    </a:p>
                  </a:txBody>
                  <a:tcPr marL="7252" marR="7252" marT="7252" marB="0" anchor="b"/>
                </a:tc>
                <a:extLst>
                  <a:ext uri="{0D108BD9-81ED-4DB2-BD59-A6C34878D82A}">
                    <a16:rowId xmlns:a16="http://schemas.microsoft.com/office/drawing/2014/main" val="3864945318"/>
                  </a:ext>
                </a:extLst>
              </a:tr>
            </a:tbl>
          </a:graphicData>
        </a:graphic>
      </p:graphicFrame>
      <p:pic>
        <p:nvPicPr>
          <p:cNvPr id="2" name="Picture 1">
            <a:extLst>
              <a:ext uri="{FF2B5EF4-FFF2-40B4-BE49-F238E27FC236}">
                <a16:creationId xmlns:a16="http://schemas.microsoft.com/office/drawing/2014/main" id="{5C3AF875-293D-5B4D-948B-0E2441E3AE08}"/>
              </a:ext>
            </a:extLst>
          </p:cNvPr>
          <p:cNvPicPr>
            <a:picLocks noChangeAspect="1"/>
          </p:cNvPicPr>
          <p:nvPr/>
        </p:nvPicPr>
        <p:blipFill>
          <a:blip r:embed="rId2" cstate="email">
            <a:alphaModFix amt="85000"/>
            <a:extLst>
              <a:ext uri="{28A0092B-C50C-407E-A947-70E740481C1C}">
                <a14:useLocalDpi xmlns:a14="http://schemas.microsoft.com/office/drawing/2010/main"/>
              </a:ext>
            </a:extLst>
          </a:blip>
          <a:stretch>
            <a:fillRect/>
          </a:stretch>
        </p:blipFill>
        <p:spPr>
          <a:xfrm>
            <a:off x="8939227" y="6197454"/>
            <a:ext cx="3252773" cy="660546"/>
          </a:xfrm>
          <a:prstGeom prst="rect">
            <a:avLst/>
          </a:prstGeom>
        </p:spPr>
      </p:pic>
      <p:sp>
        <p:nvSpPr>
          <p:cNvPr id="5" name="TextBox 4">
            <a:extLst>
              <a:ext uri="{FF2B5EF4-FFF2-40B4-BE49-F238E27FC236}">
                <a16:creationId xmlns:a16="http://schemas.microsoft.com/office/drawing/2014/main" id="{3BCED990-1A17-2789-605B-B949CCF4F517}"/>
              </a:ext>
            </a:extLst>
          </p:cNvPr>
          <p:cNvSpPr txBox="1"/>
          <p:nvPr/>
        </p:nvSpPr>
        <p:spPr>
          <a:xfrm>
            <a:off x="1491792" y="0"/>
            <a:ext cx="10700208" cy="276999"/>
          </a:xfrm>
          <a:prstGeom prst="rect">
            <a:avLst/>
          </a:prstGeom>
          <a:noFill/>
        </p:spPr>
        <p:txBody>
          <a:bodyPr wrap="square">
            <a:spAutoFit/>
          </a:bodyPr>
          <a:lstStyle/>
          <a:p>
            <a:pPr algn="r"/>
            <a:r>
              <a:rPr lang="en-US" sz="1200" b="1" i="1" dirty="0">
                <a:solidFill>
                  <a:srgbClr val="000000"/>
                </a:solidFill>
                <a:effectLst/>
                <a:latin typeface="Helvetica" panose="020B0604020202020204" pitchFamily="34" charset="0"/>
              </a:rPr>
              <a:t>*Source</a:t>
            </a:r>
            <a:r>
              <a:rPr lang="en-US" sz="1200" b="0" i="1" dirty="0">
                <a:solidFill>
                  <a:srgbClr val="000000"/>
                </a:solidFill>
                <a:effectLst/>
                <a:latin typeface="Helvetica" panose="020B0604020202020204" pitchFamily="34" charset="0"/>
              </a:rPr>
              <a:t>: Aggregated electricity hourly values from </a:t>
            </a:r>
            <a:r>
              <a:rPr lang="en-US" sz="1200" b="0" i="1" dirty="0" err="1">
                <a:solidFill>
                  <a:srgbClr val="000000"/>
                </a:solidFill>
                <a:effectLst/>
                <a:latin typeface="Helvetica" panose="020B0604020202020204" pitchFamily="34" charset="0"/>
              </a:rPr>
              <a:t>Nordpool</a:t>
            </a:r>
            <a:r>
              <a:rPr lang="en-US" sz="1200" b="0" i="1" dirty="0">
                <a:solidFill>
                  <a:srgbClr val="000000"/>
                </a:solidFill>
                <a:effectLst/>
                <a:latin typeface="Helvetica" panose="020B0604020202020204" pitchFamily="34" charset="0"/>
              </a:rPr>
              <a:t> for SE3 region.</a:t>
            </a:r>
            <a:endParaRPr lang="en-US" sz="1200" dirty="0"/>
          </a:p>
        </p:txBody>
      </p:sp>
    </p:spTree>
    <p:extLst>
      <p:ext uri="{BB962C8B-B14F-4D97-AF65-F5344CB8AC3E}">
        <p14:creationId xmlns:p14="http://schemas.microsoft.com/office/powerpoint/2010/main" val="2057644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E633-8B5B-457A-F713-C802B9933C41}"/>
              </a:ext>
            </a:extLst>
          </p:cNvPr>
          <p:cNvSpPr>
            <a:spLocks noGrp="1"/>
          </p:cNvSpPr>
          <p:nvPr>
            <p:ph type="title"/>
          </p:nvPr>
        </p:nvSpPr>
        <p:spPr>
          <a:xfrm>
            <a:off x="470554" y="18255"/>
            <a:ext cx="11180975" cy="1325563"/>
          </a:xfrm>
        </p:spPr>
        <p:txBody>
          <a:bodyPr>
            <a:normAutofit/>
          </a:bodyPr>
          <a:lstStyle/>
          <a:p>
            <a:r>
              <a:rPr lang="en-US" sz="3200" b="1" dirty="0"/>
              <a:t>Home vs Public (slow, medium, fast) Charger areas</a:t>
            </a:r>
          </a:p>
        </p:txBody>
      </p:sp>
      <p:sp>
        <p:nvSpPr>
          <p:cNvPr id="3" name="Content Placeholder 2">
            <a:extLst>
              <a:ext uri="{FF2B5EF4-FFF2-40B4-BE49-F238E27FC236}">
                <a16:creationId xmlns:a16="http://schemas.microsoft.com/office/drawing/2014/main" id="{E0E1AFB6-C78C-6DE1-10C7-B74872033694}"/>
              </a:ext>
            </a:extLst>
          </p:cNvPr>
          <p:cNvSpPr>
            <a:spLocks noGrp="1"/>
          </p:cNvSpPr>
          <p:nvPr>
            <p:ph idx="1"/>
          </p:nvPr>
        </p:nvSpPr>
        <p:spPr>
          <a:xfrm>
            <a:off x="470555" y="1343818"/>
            <a:ext cx="4524232" cy="4988156"/>
          </a:xfrm>
        </p:spPr>
        <p:txBody>
          <a:bodyPr>
            <a:normAutofit lnSpcReduction="10000"/>
          </a:bodyPr>
          <a:lstStyle/>
          <a:p>
            <a:r>
              <a:rPr lang="en-US" dirty="0"/>
              <a:t>Home charger (7kW) areas </a:t>
            </a:r>
          </a:p>
          <a:p>
            <a:pPr lvl="1"/>
            <a:r>
              <a:rPr lang="en-US" dirty="0"/>
              <a:t>level 1/2- wall mounted</a:t>
            </a:r>
          </a:p>
          <a:p>
            <a:pPr lvl="1"/>
            <a:r>
              <a:rPr lang="en-US" dirty="0"/>
              <a:t>Inside garage or covered</a:t>
            </a:r>
          </a:p>
          <a:p>
            <a:pPr lvl="1"/>
            <a:r>
              <a:rPr lang="en-US" dirty="0"/>
              <a:t>8 m buffer – </a:t>
            </a:r>
            <a:r>
              <a:rPr lang="en-US" dirty="0" err="1"/>
              <a:t>resi</a:t>
            </a:r>
            <a:r>
              <a:rPr lang="en-US" dirty="0"/>
              <a:t> </a:t>
            </a:r>
            <a:r>
              <a:rPr lang="en-US" dirty="0" err="1"/>
              <a:t>bldgs</a:t>
            </a:r>
            <a:endParaRPr lang="en-US" dirty="0"/>
          </a:p>
          <a:p>
            <a:endParaRPr lang="en-US" dirty="0"/>
          </a:p>
          <a:p>
            <a:r>
              <a:rPr lang="en-US" dirty="0"/>
              <a:t>Public Chargers?</a:t>
            </a:r>
          </a:p>
          <a:p>
            <a:pPr lvl="1"/>
            <a:r>
              <a:rPr lang="en-US" dirty="0"/>
              <a:t>Slow chargers (11 kW)</a:t>
            </a:r>
          </a:p>
          <a:p>
            <a:pPr marL="457200" lvl="1" indent="0">
              <a:buNone/>
            </a:pPr>
            <a:r>
              <a:rPr lang="en-US" dirty="0"/>
              <a:t>Area: </a:t>
            </a:r>
            <a:r>
              <a:rPr lang="en-US" b="1" dirty="0"/>
              <a:t>15 sqm </a:t>
            </a:r>
            <a:r>
              <a:rPr lang="en-US" dirty="0"/>
              <a:t>(3 x 5m)</a:t>
            </a:r>
          </a:p>
          <a:p>
            <a:pPr lvl="1"/>
            <a:r>
              <a:rPr lang="en-US" dirty="0"/>
              <a:t>Medium (22 kW)</a:t>
            </a:r>
          </a:p>
          <a:p>
            <a:pPr marL="457200" lvl="1" indent="0">
              <a:buNone/>
            </a:pPr>
            <a:r>
              <a:rPr lang="en-US" dirty="0"/>
              <a:t>Area: </a:t>
            </a:r>
            <a:r>
              <a:rPr lang="en-US" b="1" dirty="0"/>
              <a:t>18 sqm </a:t>
            </a:r>
            <a:r>
              <a:rPr lang="en-US" dirty="0"/>
              <a:t>(3 x 6m)</a:t>
            </a:r>
          </a:p>
          <a:p>
            <a:pPr lvl="1"/>
            <a:r>
              <a:rPr lang="en-US" dirty="0"/>
              <a:t>Fast (50 kW)</a:t>
            </a:r>
          </a:p>
          <a:p>
            <a:pPr marL="457200" lvl="1" indent="0">
              <a:buNone/>
            </a:pPr>
            <a:r>
              <a:rPr lang="en-US" dirty="0"/>
              <a:t>Area: </a:t>
            </a:r>
            <a:r>
              <a:rPr lang="en-US" b="1" dirty="0"/>
              <a:t>24 sqm </a:t>
            </a:r>
            <a:r>
              <a:rPr lang="en-US" dirty="0"/>
              <a:t>(4 x 6m)</a:t>
            </a:r>
          </a:p>
          <a:p>
            <a:endParaRPr lang="en-US" dirty="0"/>
          </a:p>
        </p:txBody>
      </p:sp>
      <p:grpSp>
        <p:nvGrpSpPr>
          <p:cNvPr id="22" name="Group 21">
            <a:extLst>
              <a:ext uri="{FF2B5EF4-FFF2-40B4-BE49-F238E27FC236}">
                <a16:creationId xmlns:a16="http://schemas.microsoft.com/office/drawing/2014/main" id="{E853F348-BCA6-472D-98C6-23D436A3B3CB}"/>
              </a:ext>
            </a:extLst>
          </p:cNvPr>
          <p:cNvGrpSpPr/>
          <p:nvPr/>
        </p:nvGrpSpPr>
        <p:grpSpPr>
          <a:xfrm>
            <a:off x="5403718" y="2076107"/>
            <a:ext cx="5670043" cy="4373469"/>
            <a:chOff x="6194981" y="2187559"/>
            <a:chExt cx="5670043" cy="4373469"/>
          </a:xfrm>
        </p:grpSpPr>
        <p:pic>
          <p:nvPicPr>
            <p:cNvPr id="7" name="Picture 6">
              <a:extLst>
                <a:ext uri="{FF2B5EF4-FFF2-40B4-BE49-F238E27FC236}">
                  <a16:creationId xmlns:a16="http://schemas.microsoft.com/office/drawing/2014/main" id="{2371779F-DA7C-DF3D-4D91-63D13222C9B2}"/>
                </a:ext>
              </a:extLst>
            </p:cNvPr>
            <p:cNvPicPr>
              <a:picLocks noChangeAspect="1"/>
            </p:cNvPicPr>
            <p:nvPr/>
          </p:nvPicPr>
          <p:blipFill>
            <a:blip r:embed="rId2"/>
            <a:srcRect l="29559" t="49728" r="6538"/>
            <a:stretch/>
          </p:blipFill>
          <p:spPr>
            <a:xfrm>
              <a:off x="6194981" y="2949020"/>
              <a:ext cx="5670043" cy="3612008"/>
            </a:xfrm>
            <a:prstGeom prst="rect">
              <a:avLst/>
            </a:prstGeom>
          </p:spPr>
        </p:pic>
        <p:sp>
          <p:nvSpPr>
            <p:cNvPr id="9" name="TextBox 8">
              <a:extLst>
                <a:ext uri="{FF2B5EF4-FFF2-40B4-BE49-F238E27FC236}">
                  <a16:creationId xmlns:a16="http://schemas.microsoft.com/office/drawing/2014/main" id="{5B1A40B2-514B-0FA7-1838-4DD2CAA3E23E}"/>
                </a:ext>
              </a:extLst>
            </p:cNvPr>
            <p:cNvSpPr txBox="1"/>
            <p:nvPr/>
          </p:nvSpPr>
          <p:spPr>
            <a:xfrm>
              <a:off x="6864284" y="2187559"/>
              <a:ext cx="1747963" cy="400110"/>
            </a:xfrm>
            <a:prstGeom prst="rect">
              <a:avLst/>
            </a:prstGeom>
            <a:noFill/>
          </p:spPr>
          <p:txBody>
            <a:bodyPr wrap="square">
              <a:spAutoFit/>
            </a:bodyPr>
            <a:lstStyle/>
            <a:p>
              <a:r>
                <a:rPr lang="en-US" sz="2000" dirty="0"/>
                <a:t>Resi </a:t>
              </a:r>
              <a:r>
                <a:rPr lang="en-US" sz="2000" dirty="0" err="1"/>
                <a:t>landuse</a:t>
              </a:r>
              <a:endParaRPr lang="en-US" sz="2000" dirty="0"/>
            </a:p>
          </p:txBody>
        </p:sp>
        <p:sp>
          <p:nvSpPr>
            <p:cNvPr id="11" name="TextBox 10">
              <a:extLst>
                <a:ext uri="{FF2B5EF4-FFF2-40B4-BE49-F238E27FC236}">
                  <a16:creationId xmlns:a16="http://schemas.microsoft.com/office/drawing/2014/main" id="{9B82B542-1AA2-EC58-7DF2-7AB285C1402C}"/>
                </a:ext>
              </a:extLst>
            </p:cNvPr>
            <p:cNvSpPr txBox="1"/>
            <p:nvPr/>
          </p:nvSpPr>
          <p:spPr>
            <a:xfrm>
              <a:off x="8854504" y="2462107"/>
              <a:ext cx="2483177" cy="400110"/>
            </a:xfrm>
            <a:prstGeom prst="rect">
              <a:avLst/>
            </a:prstGeom>
            <a:noFill/>
          </p:spPr>
          <p:txBody>
            <a:bodyPr wrap="square">
              <a:spAutoFit/>
            </a:bodyPr>
            <a:lstStyle/>
            <a:p>
              <a:r>
                <a:rPr lang="en-US" sz="2000" dirty="0"/>
                <a:t>Office Buildings</a:t>
              </a:r>
            </a:p>
          </p:txBody>
        </p:sp>
        <p:cxnSp>
          <p:nvCxnSpPr>
            <p:cNvPr id="13" name="Straight Arrow Connector 12">
              <a:extLst>
                <a:ext uri="{FF2B5EF4-FFF2-40B4-BE49-F238E27FC236}">
                  <a16:creationId xmlns:a16="http://schemas.microsoft.com/office/drawing/2014/main" id="{B451E01A-DC74-829F-1F82-99FD251DD041}"/>
                </a:ext>
              </a:extLst>
            </p:cNvPr>
            <p:cNvCxnSpPr>
              <a:cxnSpLocks/>
              <a:stCxn id="9" idx="2"/>
            </p:cNvCxnSpPr>
            <p:nvPr/>
          </p:nvCxnSpPr>
          <p:spPr>
            <a:xfrm flipH="1">
              <a:off x="7165942" y="2587669"/>
              <a:ext cx="572324" cy="72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1E0D17F-7500-6639-CB15-41EA1203F060}"/>
                </a:ext>
              </a:extLst>
            </p:cNvPr>
            <p:cNvCxnSpPr>
              <a:cxnSpLocks/>
              <a:stCxn id="11" idx="2"/>
            </p:cNvCxnSpPr>
            <p:nvPr/>
          </p:nvCxnSpPr>
          <p:spPr>
            <a:xfrm flipH="1">
              <a:off x="8761326" y="2862217"/>
              <a:ext cx="1334767" cy="1764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B431D71-F928-5DFD-3275-CD4C22D9667C}"/>
                </a:ext>
              </a:extLst>
            </p:cNvPr>
            <p:cNvSpPr txBox="1"/>
            <p:nvPr/>
          </p:nvSpPr>
          <p:spPr>
            <a:xfrm>
              <a:off x="8763075" y="5832520"/>
              <a:ext cx="1357637" cy="646331"/>
            </a:xfrm>
            <a:prstGeom prst="rect">
              <a:avLst/>
            </a:prstGeom>
            <a:noFill/>
          </p:spPr>
          <p:txBody>
            <a:bodyPr wrap="square">
              <a:spAutoFit/>
            </a:bodyPr>
            <a:lstStyle/>
            <a:p>
              <a:r>
                <a:rPr lang="en-US" dirty="0"/>
                <a:t>Parking / PV install area</a:t>
              </a:r>
            </a:p>
          </p:txBody>
        </p:sp>
      </p:grpSp>
      <p:cxnSp>
        <p:nvCxnSpPr>
          <p:cNvPr id="27" name="Straight Connector 26">
            <a:extLst>
              <a:ext uri="{FF2B5EF4-FFF2-40B4-BE49-F238E27FC236}">
                <a16:creationId xmlns:a16="http://schemas.microsoft.com/office/drawing/2014/main" id="{D2F8D1B0-54DA-AB39-8A67-F51EBA1EC35E}"/>
              </a:ext>
            </a:extLst>
          </p:cNvPr>
          <p:cNvCxnSpPr>
            <a:cxnSpLocks/>
          </p:cNvCxnSpPr>
          <p:nvPr/>
        </p:nvCxnSpPr>
        <p:spPr>
          <a:xfrm flipV="1">
            <a:off x="7274502" y="4903509"/>
            <a:ext cx="838986" cy="135746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18D48B56-B9AD-BD36-55E6-FBE213F6527E}"/>
              </a:ext>
            </a:extLst>
          </p:cNvPr>
          <p:cNvPicPr>
            <a:picLocks noChangeAspect="1"/>
          </p:cNvPicPr>
          <p:nvPr/>
        </p:nvPicPr>
        <p:blipFill>
          <a:blip r:embed="rId3"/>
          <a:stretch>
            <a:fillRect/>
          </a:stretch>
        </p:blipFill>
        <p:spPr>
          <a:xfrm>
            <a:off x="9963150" y="18255"/>
            <a:ext cx="2221222" cy="2212447"/>
          </a:xfrm>
          <a:prstGeom prst="rect">
            <a:avLst/>
          </a:prstGeom>
        </p:spPr>
      </p:pic>
    </p:spTree>
    <p:extLst>
      <p:ext uri="{BB962C8B-B14F-4D97-AF65-F5344CB8AC3E}">
        <p14:creationId xmlns:p14="http://schemas.microsoft.com/office/powerpoint/2010/main" val="3984790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3B3C-2748-318F-7017-E2E903DF93FE}"/>
              </a:ext>
            </a:extLst>
          </p:cNvPr>
          <p:cNvSpPr>
            <a:spLocks noGrp="1"/>
          </p:cNvSpPr>
          <p:nvPr>
            <p:ph type="title"/>
          </p:nvPr>
        </p:nvSpPr>
        <p:spPr>
          <a:xfrm>
            <a:off x="409084" y="18255"/>
            <a:ext cx="10515600" cy="1143033"/>
          </a:xfrm>
        </p:spPr>
        <p:txBody>
          <a:bodyPr>
            <a:normAutofit/>
          </a:bodyPr>
          <a:lstStyle/>
          <a:p>
            <a:r>
              <a:rPr lang="en-US" sz="3200" b="1" dirty="0"/>
              <a:t>User considerate redirections</a:t>
            </a:r>
            <a:endParaRPr lang="sv-SE" sz="3200" b="1" dirty="0"/>
          </a:p>
        </p:txBody>
      </p:sp>
      <p:sp>
        <p:nvSpPr>
          <p:cNvPr id="3" name="Content Placeholder 2">
            <a:extLst>
              <a:ext uri="{FF2B5EF4-FFF2-40B4-BE49-F238E27FC236}">
                <a16:creationId xmlns:a16="http://schemas.microsoft.com/office/drawing/2014/main" id="{B479E9C6-18A3-B1E0-8E20-D238F5BA8B82}"/>
              </a:ext>
            </a:extLst>
          </p:cNvPr>
          <p:cNvSpPr>
            <a:spLocks noGrp="1"/>
          </p:cNvSpPr>
          <p:nvPr>
            <p:ph idx="1"/>
          </p:nvPr>
        </p:nvSpPr>
        <p:spPr>
          <a:xfrm>
            <a:off x="551688" y="2634711"/>
            <a:ext cx="11088624" cy="3592353"/>
          </a:xfrm>
        </p:spPr>
        <p:txBody>
          <a:bodyPr/>
          <a:lstStyle/>
          <a:p>
            <a:pPr marL="0" indent="0">
              <a:lnSpc>
                <a:spcPct val="120000"/>
              </a:lnSpc>
              <a:buNone/>
            </a:pPr>
            <a:r>
              <a:rPr lang="en-US" sz="3200" dirty="0"/>
              <a:t>Travel/Redirection costs:</a:t>
            </a:r>
          </a:p>
          <a:p>
            <a:pPr lvl="1">
              <a:lnSpc>
                <a:spcPct val="120000"/>
              </a:lnSpc>
            </a:pPr>
            <a:r>
              <a:rPr lang="en-US" dirty="0"/>
              <a:t>Value of time: 80 SEK/</a:t>
            </a:r>
            <a:r>
              <a:rPr lang="en-US" dirty="0" err="1"/>
              <a:t>hr</a:t>
            </a:r>
            <a:r>
              <a:rPr lang="en-US" dirty="0"/>
              <a:t> </a:t>
            </a:r>
            <a:r>
              <a:rPr lang="en-US" sz="2000" dirty="0"/>
              <a:t>(Swedish Value of Time: 59 to 92 SEK).</a:t>
            </a:r>
          </a:p>
          <a:p>
            <a:pPr lvl="1">
              <a:lnSpc>
                <a:spcPct val="120000"/>
              </a:lnSpc>
            </a:pPr>
            <a:r>
              <a:rPr lang="en-US" dirty="0"/>
              <a:t>Speed : 30 kmph</a:t>
            </a:r>
          </a:p>
          <a:p>
            <a:pPr lvl="1">
              <a:lnSpc>
                <a:spcPct val="120000"/>
              </a:lnSpc>
            </a:pPr>
            <a:r>
              <a:rPr lang="en-US" dirty="0"/>
              <a:t>Redirection cost = 2.64 </a:t>
            </a:r>
            <a:r>
              <a:rPr lang="en-US" b="1" dirty="0"/>
              <a:t>SEK/km</a:t>
            </a:r>
            <a:r>
              <a:rPr lang="en-US" dirty="0"/>
              <a:t>  (0.033 * 80) </a:t>
            </a:r>
          </a:p>
          <a:p>
            <a:pPr lvl="1">
              <a:lnSpc>
                <a:spcPct val="120000"/>
              </a:lnSpc>
            </a:pPr>
            <a:endParaRPr lang="en-US" dirty="0"/>
          </a:p>
          <a:p>
            <a:pPr marL="0" indent="0">
              <a:buNone/>
            </a:pPr>
            <a:r>
              <a:rPr lang="sv-SE" sz="2400" dirty="0"/>
              <a:t>Swedish Value </a:t>
            </a:r>
            <a:r>
              <a:rPr lang="sv-SE" sz="2400" dirty="0" err="1"/>
              <a:t>of</a:t>
            </a:r>
            <a:r>
              <a:rPr lang="sv-SE" sz="2400" dirty="0"/>
              <a:t> </a:t>
            </a:r>
            <a:r>
              <a:rPr lang="sv-SE" sz="2400" dirty="0" err="1"/>
              <a:t>Time</a:t>
            </a:r>
            <a:r>
              <a:rPr lang="sv-SE" sz="2400" dirty="0"/>
              <a:t>: 80 kr/hr- Elsevier (KTH, </a:t>
            </a:r>
            <a:r>
              <a:rPr lang="sv-SE" sz="2400" dirty="0">
                <a:hlinkClick r:id="rId2"/>
              </a:rPr>
              <a:t>2014</a:t>
            </a:r>
            <a:r>
              <a:rPr lang="sv-SE" sz="2400" dirty="0"/>
              <a:t>), Uppsala (</a:t>
            </a:r>
            <a:r>
              <a:rPr lang="sv-SE" sz="2400" dirty="0">
                <a:hlinkClick r:id="rId3"/>
              </a:rPr>
              <a:t>1998</a:t>
            </a:r>
            <a:r>
              <a:rPr lang="sv-SE" sz="2400" dirty="0"/>
              <a:t>)- 89 kr/hr, JSTOR journal (</a:t>
            </a:r>
            <a:r>
              <a:rPr lang="sv-SE" sz="2400" dirty="0">
                <a:hlinkClick r:id="rId4"/>
              </a:rPr>
              <a:t>2001</a:t>
            </a:r>
            <a:r>
              <a:rPr lang="sv-SE" sz="2400" dirty="0"/>
              <a:t>) , SIKA (</a:t>
            </a:r>
            <a:r>
              <a:rPr lang="sv-SE" sz="2400" dirty="0">
                <a:hlinkClick r:id="rId5"/>
              </a:rPr>
              <a:t>1995</a:t>
            </a:r>
            <a:r>
              <a:rPr lang="sv-SE" sz="2400" dirty="0"/>
              <a:t>)- 110 kr/hr.</a:t>
            </a:r>
            <a:endParaRPr lang="en-US" sz="2400" dirty="0"/>
          </a:p>
        </p:txBody>
      </p:sp>
      <p:pic>
        <p:nvPicPr>
          <p:cNvPr id="4" name="Picture 3">
            <a:extLst>
              <a:ext uri="{FF2B5EF4-FFF2-40B4-BE49-F238E27FC236}">
                <a16:creationId xmlns:a16="http://schemas.microsoft.com/office/drawing/2014/main" id="{CB84921C-AB9B-B638-32C0-E5548AE1758A}"/>
              </a:ext>
            </a:extLst>
          </p:cNvPr>
          <p:cNvPicPr>
            <a:picLocks noChangeAspect="1"/>
          </p:cNvPicPr>
          <p:nvPr/>
        </p:nvPicPr>
        <p:blipFill>
          <a:blip r:embed="rId6"/>
          <a:stretch>
            <a:fillRect/>
          </a:stretch>
        </p:blipFill>
        <p:spPr>
          <a:xfrm>
            <a:off x="7980316" y="3943786"/>
            <a:ext cx="2719040" cy="648026"/>
          </a:xfrm>
          <a:prstGeom prst="rect">
            <a:avLst/>
          </a:prstGeom>
        </p:spPr>
      </p:pic>
      <p:sp>
        <p:nvSpPr>
          <p:cNvPr id="5" name="TextBox 33">
            <a:extLst>
              <a:ext uri="{FF2B5EF4-FFF2-40B4-BE49-F238E27FC236}">
                <a16:creationId xmlns:a16="http://schemas.microsoft.com/office/drawing/2014/main" id="{F2A7AC01-51AA-B6D6-6011-1931DDF33E2A}"/>
              </a:ext>
            </a:extLst>
          </p:cNvPr>
          <p:cNvSpPr txBox="1"/>
          <p:nvPr/>
        </p:nvSpPr>
        <p:spPr>
          <a:xfrm>
            <a:off x="551688" y="973360"/>
            <a:ext cx="10997184" cy="1432956"/>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n-US" sz="2000" dirty="0">
                <a:solidFill>
                  <a:schemeClr val="tx1">
                    <a:lumMod val="50000"/>
                  </a:schemeClr>
                </a:solidFill>
              </a:rPr>
              <a:t>Each redirected charging trip: </a:t>
            </a:r>
            <a:r>
              <a:rPr lang="en-US" sz="2000" b="1" dirty="0">
                <a:solidFill>
                  <a:schemeClr val="tx1">
                    <a:lumMod val="50000"/>
                  </a:schemeClr>
                </a:solidFill>
              </a:rPr>
              <a:t>User incentive</a:t>
            </a:r>
            <a:r>
              <a:rPr lang="en-US" sz="2000" dirty="0">
                <a:solidFill>
                  <a:schemeClr val="tx1">
                    <a:lumMod val="50000"/>
                  </a:schemeClr>
                </a:solidFill>
              </a:rPr>
              <a:t> offset the </a:t>
            </a:r>
            <a:r>
              <a:rPr lang="en-US" sz="2000" b="1" dirty="0">
                <a:solidFill>
                  <a:schemeClr val="tx1">
                    <a:lumMod val="50000"/>
                  </a:schemeClr>
                </a:solidFill>
              </a:rPr>
              <a:t>detour distance and travel time</a:t>
            </a:r>
          </a:p>
          <a:p>
            <a:pPr>
              <a:lnSpc>
                <a:spcPct val="150000"/>
              </a:lnSpc>
            </a:pPr>
            <a:r>
              <a:rPr lang="en-US" sz="2000" dirty="0">
                <a:solidFill>
                  <a:schemeClr val="tx1">
                    <a:lumMod val="50000"/>
                  </a:schemeClr>
                </a:solidFill>
              </a:rPr>
              <a:t>The incentive considers user </a:t>
            </a:r>
            <a:r>
              <a:rPr lang="en-US" sz="2000" b="1" dirty="0">
                <a:solidFill>
                  <a:schemeClr val="tx1">
                    <a:lumMod val="50000"/>
                  </a:schemeClr>
                </a:solidFill>
              </a:rPr>
              <a:t>acceptance</a:t>
            </a:r>
            <a:r>
              <a:rPr lang="en-US" sz="2000" dirty="0">
                <a:solidFill>
                  <a:schemeClr val="tx1">
                    <a:lumMod val="50000"/>
                  </a:schemeClr>
                </a:solidFill>
              </a:rPr>
              <a:t> is realistic. Drivers receive compensation proportional to </a:t>
            </a:r>
            <a:r>
              <a:rPr lang="en-US" sz="2000" b="1" dirty="0">
                <a:solidFill>
                  <a:schemeClr val="tx1">
                    <a:lumMod val="50000"/>
                  </a:schemeClr>
                </a:solidFill>
              </a:rPr>
              <a:t>travel time, value of time, and tariff difference between origin and destination charger tariffs.</a:t>
            </a:r>
            <a:endParaRPr lang="en-SE" sz="2000" dirty="0">
              <a:solidFill>
                <a:schemeClr val="tx1">
                  <a:lumMod val="50000"/>
                </a:schemeClr>
              </a:solidFill>
            </a:endParaRPr>
          </a:p>
        </p:txBody>
      </p:sp>
    </p:spTree>
    <p:extLst>
      <p:ext uri="{BB962C8B-B14F-4D97-AF65-F5344CB8AC3E}">
        <p14:creationId xmlns:p14="http://schemas.microsoft.com/office/powerpoint/2010/main" val="3632927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EB7D4"/>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1A8D789-3BCF-16A1-29D6-A85E4037133F}"/>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a:fillRect/>
          </a:stretch>
        </p:blipFill>
        <p:spPr bwMode="auto">
          <a:xfrm>
            <a:off x="8926848" y="3994426"/>
            <a:ext cx="2457368" cy="229012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D37782B-33AA-8BD0-637F-24F6C3A455F9}"/>
              </a:ext>
            </a:extLst>
          </p:cNvPr>
          <p:cNvSpPr txBox="1"/>
          <p:nvPr/>
        </p:nvSpPr>
        <p:spPr>
          <a:xfrm>
            <a:off x="3156095" y="1538150"/>
            <a:ext cx="6094476" cy="1697324"/>
          </a:xfrm>
          <a:prstGeom prst="rect">
            <a:avLst/>
          </a:prstGeom>
          <a:noFill/>
        </p:spPr>
        <p:txBody>
          <a:bodyPr wrap="square">
            <a:spAutoFit/>
          </a:bodyPr>
          <a:lstStyle/>
          <a:p>
            <a:pPr>
              <a:lnSpc>
                <a:spcPct val="150000"/>
              </a:lnSpc>
            </a:pPr>
            <a:r>
              <a:rPr lang="en-US" sz="1900" b="1" dirty="0">
                <a:solidFill>
                  <a:schemeClr val="tx1">
                    <a:lumMod val="50000"/>
                  </a:schemeClr>
                </a:solidFill>
              </a:rPr>
              <a:t>Omkar Parishwad</a:t>
            </a:r>
          </a:p>
          <a:p>
            <a:pPr>
              <a:lnSpc>
                <a:spcPct val="150000"/>
              </a:lnSpc>
            </a:pPr>
            <a:r>
              <a:rPr lang="en-US" sz="1600" dirty="0" err="1">
                <a:solidFill>
                  <a:schemeClr val="tx1">
                    <a:lumMod val="50000"/>
                  </a:schemeClr>
                </a:solidFill>
              </a:rPr>
              <a:t>Doktorand</a:t>
            </a:r>
            <a:r>
              <a:rPr lang="en-US" sz="1600" dirty="0">
                <a:solidFill>
                  <a:schemeClr val="tx1">
                    <a:lumMod val="50000"/>
                  </a:schemeClr>
                </a:solidFill>
              </a:rPr>
              <a:t> (Urban Mobility Systems)</a:t>
            </a:r>
          </a:p>
          <a:p>
            <a:pPr>
              <a:lnSpc>
                <a:spcPct val="150000"/>
              </a:lnSpc>
            </a:pPr>
            <a:r>
              <a:rPr lang="en-US" sz="1600" b="1" dirty="0">
                <a:solidFill>
                  <a:schemeClr val="tx1">
                    <a:lumMod val="50000"/>
                  </a:schemeClr>
                </a:solidFill>
              </a:rPr>
              <a:t>Chalmers University of Technology</a:t>
            </a:r>
          </a:p>
          <a:p>
            <a:pPr>
              <a:lnSpc>
                <a:spcPct val="150000"/>
              </a:lnSpc>
            </a:pPr>
            <a:r>
              <a:rPr lang="en-US" sz="1900" i="1" u="sng" dirty="0">
                <a:solidFill>
                  <a:schemeClr val="tx1">
                    <a:lumMod val="50000"/>
                  </a:schemeClr>
                </a:solidFill>
              </a:rPr>
              <a:t>omkarp@chalmers.se </a:t>
            </a:r>
          </a:p>
        </p:txBody>
      </p:sp>
      <p:pic>
        <p:nvPicPr>
          <p:cNvPr id="9" name="Picture 8">
            <a:extLst>
              <a:ext uri="{FF2B5EF4-FFF2-40B4-BE49-F238E27FC236}">
                <a16:creationId xmlns:a16="http://schemas.microsoft.com/office/drawing/2014/main" id="{D362653E-3387-4597-6701-4AB90ADD7F6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219547" y="1545840"/>
            <a:ext cx="1665911" cy="1801904"/>
          </a:xfrm>
          <a:prstGeom prst="rect">
            <a:avLst/>
          </a:prstGeom>
        </p:spPr>
      </p:pic>
    </p:spTree>
    <p:extLst>
      <p:ext uri="{BB962C8B-B14F-4D97-AF65-F5344CB8AC3E}">
        <p14:creationId xmlns:p14="http://schemas.microsoft.com/office/powerpoint/2010/main" val="2464056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1870</Words>
  <Application>Microsoft Office PowerPoint</Application>
  <PresentationFormat>Widescreen</PresentationFormat>
  <Paragraphs>489</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Aptos Narrow</vt:lpstr>
      <vt:lpstr>Arial</vt:lpstr>
      <vt:lpstr>CMR10</vt:lpstr>
      <vt:lpstr>Helvetica</vt:lpstr>
      <vt:lpstr>Times New Roman</vt:lpstr>
      <vt:lpstr>Office Theme</vt:lpstr>
      <vt:lpstr>PV (on-site and VIPV), Battery storage, and charger types</vt:lpstr>
      <vt:lpstr>PowerPoint Presentation</vt:lpstr>
      <vt:lpstr>PV panels PVGIS: nominal power includes/considers efficiency</vt:lpstr>
      <vt:lpstr>PV panels (on site)</vt:lpstr>
      <vt:lpstr>PowerPoint Presentation</vt:lpstr>
      <vt:lpstr>Battery storage systems in Sweden (BESS)</vt:lpstr>
      <vt:lpstr>BESS turnkey cost structure</vt:lpstr>
      <vt:lpstr>Swedish EV Chargers turnkey considerations</vt:lpstr>
      <vt:lpstr>Charger cost and capacity references</vt:lpstr>
      <vt:lpstr>Chargers turnkey costs</vt:lpstr>
      <vt:lpstr>PowerPoint Presentation</vt:lpstr>
      <vt:lpstr>Home vs Public (slow, medium, fast) Charger areas</vt:lpstr>
      <vt:lpstr>User considerate redirections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Parishwad</dc:creator>
  <cp:lastModifiedBy>Omkar Parishwad</cp:lastModifiedBy>
  <cp:revision>42</cp:revision>
  <dcterms:created xsi:type="dcterms:W3CDTF">2026-06-09T13:33:37Z</dcterms:created>
  <dcterms:modified xsi:type="dcterms:W3CDTF">2026-06-23T08:19:58Z</dcterms:modified>
</cp:coreProperties>
</file>